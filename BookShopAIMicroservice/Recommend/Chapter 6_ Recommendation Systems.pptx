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Proxima Nova"/>
      <p:regular r:id="rId57"/>
      <p:bold r:id="rId58"/>
      <p:italic r:id="rId59"/>
      <p:boldItalic r:id="rId60"/>
    </p:embeddedFont>
    <p:embeddedFont>
      <p:font typeface="Corbel"/>
      <p:regular r:id="rId61"/>
      <p:bold r:id="rId62"/>
      <p:italic r:id="rId63"/>
      <p:boldItalic r:id="rId64"/>
    </p:embeddedFont>
    <p:embeddedFont>
      <p:font typeface="Alfa Slab One"/>
      <p:regular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F7746B-9FF5-4B47-A26D-855030D7CD54}">
  <a:tblStyle styleId="{89F7746B-9FF5-4B47-A26D-855030D7CD5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1563634-6EFB-4475-A687-86A65893C6B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orbel-bold.fntdata"/><Relationship Id="rId61" Type="http://schemas.openxmlformats.org/officeDocument/2006/relationships/font" Target="fonts/Corbel-regular.fntdata"/><Relationship Id="rId20" Type="http://schemas.openxmlformats.org/officeDocument/2006/relationships/slide" Target="slides/slide14.xml"/><Relationship Id="rId64" Type="http://schemas.openxmlformats.org/officeDocument/2006/relationships/font" Target="fonts/Corbel-boldItalic.fntdata"/><Relationship Id="rId63" Type="http://schemas.openxmlformats.org/officeDocument/2006/relationships/font" Target="fonts/Corbel-italic.fntdata"/><Relationship Id="rId22" Type="http://schemas.openxmlformats.org/officeDocument/2006/relationships/slide" Target="slides/slide16.xml"/><Relationship Id="rId21" Type="http://schemas.openxmlformats.org/officeDocument/2006/relationships/slide" Target="slides/slide15.xml"/><Relationship Id="rId65" Type="http://schemas.openxmlformats.org/officeDocument/2006/relationships/font" Target="fonts/AlfaSlabOne-regular.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roximaNova-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ProximaNova-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ProximaNova-italic.fntdata"/><Relationship Id="rId14" Type="http://schemas.openxmlformats.org/officeDocument/2006/relationships/slide" Target="slides/slide8.xml"/><Relationship Id="rId58" Type="http://schemas.openxmlformats.org/officeDocument/2006/relationships/font" Target="fonts/ProximaNov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054828aaa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054828aaa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ff273a4a6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ff273a4a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feddd1cf5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feddd1cf5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ff273a4a6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ff273a4a6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eddd1cf5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feddd1cf5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eddd1cf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eddd1cf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eddd1cf5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eddd1cf5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feddd1cf5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feddd1cf5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ff273a4a67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ff273a4a67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db2038d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db2038d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ff273a4a67_0_331: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
        <p:nvSpPr>
          <p:cNvPr id="168" name="Google Shape;168;g2ff273a4a67_0_33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g2ff273a4a67_0_331: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ff273a4a6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ff273a4a6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0db2038de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0db2038de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db2038de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0db2038d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ff07b5612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ff07b5612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0db2038de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0db2038de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ff07b5612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ff07b5612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ff273a4a67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ff273a4a67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ff273a4a67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ff273a4a67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ff273a4a6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ff273a4a6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ff273a4a67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ff273a4a67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0f30b76b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0f30b76b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0f30b76b1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0f30b76b1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f30b76b1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f30b76b1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f30b76b1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f30b76b1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0f30b76b1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0f30b76b1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0f30b76b1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0f30b76b1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0f30b76b1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0f30b76b1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0.380 &gt; 0.322</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f30b76b1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f30b76b1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0.380 &gt; 0.322</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0f30b76b1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0f30b76b1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0.092 &gt; -0.559</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0f30b76b1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0f30b76b1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0f30b76b1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0f30b76b1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f30b76b1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0f30b76b1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0f30b76b1d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0f30b76b1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0f30b76b1d_0_162: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0f30b76b1d_0_16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0f30b76b1d_0_176: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0f30b76b1d_0_17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0f30b76b1d_0_288: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0f30b76b1d_0_28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0f30b76b1d_0_405: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0f30b76b1d_0_40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0f30b76b1d_0_417: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0f30b76b1d_0_4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0f30b76b1d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0f30b76b1d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0f30b76b1d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0f30b76b1d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0f30b76b1d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0f30b76b1d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0f30b76b1d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0f30b76b1d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0f30b76b1d_0_676: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0f30b76b1d_0_67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0f30b76b1d_0_687: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0f30b76b1d_0_68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0f30b76b1d_0_700: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
        <p:nvSpPr>
          <p:cNvPr id="506" name="Google Shape;506;g30f30b76b1d_0_70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g30f30b76b1d_0_700: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0f30b76b1d_0_708: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
        <p:nvSpPr>
          <p:cNvPr id="514" name="Google Shape;514;g30f30b76b1d_0_70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g30f30b76b1d_0_708: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0f30b76b1d_0_716: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
        <p:nvSpPr>
          <p:cNvPr id="522" name="Google Shape;522;g30f30b76b1d_0_71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g30f30b76b1d_0_716: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0f30b76b1d_0_724: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
        <p:nvSpPr>
          <p:cNvPr id="530" name="Google Shape;530;g30f30b76b1d_0_72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g30f30b76b1d_0_724: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5400"/>
              <a:buNone/>
              <a:defRPr sz="5400"/>
            </a:lvl1pPr>
            <a:lvl2pPr lvl="1"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2pPr>
            <a:lvl3pPr lvl="2"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3pPr>
            <a:lvl4pPr lvl="3"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4pPr>
            <a:lvl5pPr lvl="4"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5pPr>
            <a:lvl6pPr lvl="5"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6pPr>
            <a:lvl7pPr lvl="6"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7pPr>
            <a:lvl8pPr lvl="7"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8pPr>
            <a:lvl9pPr lvl="8" rtl="0" algn="ctr">
              <a:lnSpc>
                <a:spcPct val="100000"/>
              </a:lnSpc>
              <a:spcBef>
                <a:spcPts val="0"/>
              </a:spcBef>
              <a:spcAft>
                <a:spcPts val="0"/>
              </a:spcAft>
              <a:buSzPts val="5400"/>
              <a:buFont typeface="Times New Roman"/>
              <a:buNone/>
              <a:defRPr sz="5400">
                <a:latin typeface="Times New Roman"/>
                <a:ea typeface="Times New Roman"/>
                <a:cs typeface="Times New Roman"/>
                <a:sym typeface="Times New Roman"/>
              </a:defRPr>
            </a:lvl9pPr>
          </a:lstStyle>
          <a:p/>
        </p:txBody>
      </p:sp>
      <p:sp>
        <p:nvSpPr>
          <p:cNvPr id="12" name="Google Shape;12;p2"/>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1pPr>
            <a:lvl2pPr lvl="1"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2pPr>
            <a:lvl3pPr lvl="2"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3pPr>
            <a:lvl4pPr lvl="3"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4pPr>
            <a:lvl5pPr lvl="4"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5pPr>
            <a:lvl6pPr lvl="5"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6pPr>
            <a:lvl7pPr lvl="6"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7pPr>
            <a:lvl8pPr lvl="7"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8pPr>
            <a:lvl9pPr lvl="8" rt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311700" y="140225"/>
            <a:ext cx="8520600" cy="5727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2pPr>
            <a:lvl3pPr lvl="2"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3pPr>
            <a:lvl4pPr lvl="3"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4pPr>
            <a:lvl5pPr lvl="4"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5pPr>
            <a:lvl6pPr lvl="5"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6pPr>
            <a:lvl7pPr lvl="6"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7pPr>
            <a:lvl8pPr lvl="7"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8pPr>
            <a:lvl9pPr lvl="8" rtl="0" algn="l">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9pPr>
          </a:lstStyle>
          <a:p/>
        </p:txBody>
      </p:sp>
      <p:sp>
        <p:nvSpPr>
          <p:cNvPr id="16" name="Google Shape;16;p3"/>
          <p:cNvSpPr txBox="1"/>
          <p:nvPr>
            <p:ph idx="1" type="body"/>
          </p:nvPr>
        </p:nvSpPr>
        <p:spPr>
          <a:xfrm>
            <a:off x="311700" y="771475"/>
            <a:ext cx="8520600" cy="4103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Font typeface="Times New Roman"/>
              <a:buChar char="●"/>
              <a:defRPr>
                <a:latin typeface="Times New Roman"/>
                <a:ea typeface="Times New Roman"/>
                <a:cs typeface="Times New Roman"/>
                <a:sym typeface="Times New Roman"/>
              </a:defRPr>
            </a:lvl1pPr>
            <a:lvl2pPr indent="-317500" lvl="1" marL="9144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2pPr>
            <a:lvl3pPr indent="-317500" lvl="2" marL="13716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3pPr>
            <a:lvl4pPr indent="-317500" lvl="3" marL="18288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4pPr>
            <a:lvl5pPr indent="-317500" lvl="4" marL="22860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5pPr>
            <a:lvl6pPr indent="-317500" lvl="5" marL="27432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6pPr>
            <a:lvl7pPr indent="-317500" lvl="6" marL="32004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7pPr>
            <a:lvl8pPr indent="-317500" lvl="7" marL="36576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8pPr>
            <a:lvl9pPr indent="-317500" lvl="8" marL="41148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 name="Shape 18"/>
        <p:cNvGrpSpPr/>
        <p:nvPr/>
      </p:nvGrpSpPr>
      <p:grpSpPr>
        <a:xfrm>
          <a:off x="0" y="0"/>
          <a:ext cx="0" cy="0"/>
          <a:chOff x="0" y="0"/>
          <a:chExt cx="0" cy="0"/>
        </a:xfrm>
      </p:grpSpPr>
      <p:cxnSp>
        <p:nvCxnSpPr>
          <p:cNvPr id="19" name="Google Shape;19;p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0" name="Google Shape;20;p4"/>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3800"/>
              <a:buNone/>
              <a:defRPr sz="3800"/>
            </a:lvl1pPr>
            <a:lvl2pPr lvl="1"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2pPr>
            <a:lvl3pPr lvl="2"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3pPr>
            <a:lvl4pPr lvl="3"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4pPr>
            <a:lvl5pPr lvl="4"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5pPr>
            <a:lvl6pPr lvl="5"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6pPr>
            <a:lvl7pPr lvl="6"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7pPr>
            <a:lvl8pPr lvl="7"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8pPr>
            <a:lvl9pPr lvl="8" rtl="0" algn="ctr">
              <a:lnSpc>
                <a:spcPct val="100000"/>
              </a:lnSpc>
              <a:spcBef>
                <a:spcPts val="0"/>
              </a:spcBef>
              <a:spcAft>
                <a:spcPts val="0"/>
              </a:spcAft>
              <a:buSzPts val="3800"/>
              <a:buFont typeface="Times New Roman"/>
              <a:buNone/>
              <a:defRPr sz="3800">
                <a:latin typeface="Times New Roman"/>
                <a:ea typeface="Times New Roman"/>
                <a:cs typeface="Times New Roman"/>
                <a:sym typeface="Times New Roman"/>
              </a:defRPr>
            </a:lvl9pPr>
          </a:lstStyle>
          <a:p/>
        </p:txBody>
      </p:sp>
      <p:sp>
        <p:nvSpPr>
          <p:cNvPr id="21" name="Google Shape;21;p4"/>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1800"/>
              <a:buFont typeface="Times New Roman"/>
              <a:buNone/>
              <a:defRPr>
                <a:latin typeface="Times New Roman"/>
                <a:ea typeface="Times New Roman"/>
                <a:cs typeface="Times New Roman"/>
                <a:sym typeface="Times New Roman"/>
              </a:defRPr>
            </a:lvl1pPr>
            <a:lvl2pPr lvl="1"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2pPr>
            <a:lvl3pPr lvl="2"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3pPr>
            <a:lvl4pPr lvl="3"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4pPr>
            <a:lvl5pPr lvl="4"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5pPr>
            <a:lvl6pPr lvl="5"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6pPr>
            <a:lvl7pPr lvl="6"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7pPr>
            <a:lvl8pPr lvl="7"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8pPr>
            <a:lvl9pPr lvl="8" rtl="0" algn="ctr">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9pPr>
          </a:lstStyle>
          <a:p/>
        </p:txBody>
      </p:sp>
      <p:sp>
        <p:nvSpPr>
          <p:cNvPr id="22" name="Google Shape;22;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cxnSp>
        <p:nvCxnSpPr>
          <p:cNvPr id="23" name="Google Shape;23;p4"/>
          <p:cNvCxnSpPr/>
          <p:nvPr/>
        </p:nvCxnSpPr>
        <p:spPr>
          <a:xfrm>
            <a:off x="4588950" y="-4600"/>
            <a:ext cx="21900" cy="5143500"/>
          </a:xfrm>
          <a:prstGeom prst="straightConnector1">
            <a:avLst/>
          </a:prstGeom>
          <a:noFill/>
          <a:ln cap="flat" cmpd="sng" w="9525">
            <a:solidFill>
              <a:srgbClr val="FF0000"/>
            </a:solidFill>
            <a:prstDash val="solid"/>
            <a:round/>
            <a:headEnd len="sm" w="sm" type="none"/>
            <a:tailEnd len="sm" w="sm" type="none"/>
          </a:ln>
        </p:spPr>
      </p:cxnSp>
      <p:sp>
        <p:nvSpPr>
          <p:cNvPr id="24" name="Google Shape;24;p4"/>
          <p:cNvSpPr txBox="1"/>
          <p:nvPr>
            <p:ph idx="2" type="subTitle"/>
          </p:nvPr>
        </p:nvSpPr>
        <p:spPr>
          <a:xfrm>
            <a:off x="4823925" y="807624"/>
            <a:ext cx="4045200" cy="37551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1800"/>
              <a:buFont typeface="Times New Roman"/>
              <a:buNone/>
              <a:defRPr>
                <a:latin typeface="Times New Roman"/>
                <a:ea typeface="Times New Roman"/>
                <a:cs typeface="Times New Roman"/>
                <a:sym typeface="Times New Roman"/>
              </a:defRPr>
            </a:lvl1pPr>
            <a:lvl2pPr lvl="1"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2pPr>
            <a:lvl3pPr lvl="2"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3pPr>
            <a:lvl4pPr lvl="3"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4pPr>
            <a:lvl5pPr lvl="4"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5pPr>
            <a:lvl6pPr lvl="5"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6pPr>
            <a:lvl7pPr lvl="6"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7pPr>
            <a:lvl8pPr lvl="7"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8pPr>
            <a:lvl9pPr lvl="8" rtl="0" algn="l">
              <a:lnSpc>
                <a:spcPct val="100000"/>
              </a:lnSpc>
              <a:spcBef>
                <a:spcPts val="0"/>
              </a:spcBef>
              <a:spcAft>
                <a:spcPts val="0"/>
              </a:spcAft>
              <a:buSzPts val="1800"/>
              <a:buFont typeface="Times New Roman"/>
              <a:buNone/>
              <a:defRPr sz="1800">
                <a:latin typeface="Times New Roman"/>
                <a:ea typeface="Times New Roman"/>
                <a:cs typeface="Times New Roman"/>
                <a:sym typeface="Times New Roma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
          <p:cNvSpPr txBox="1"/>
          <p:nvPr>
            <p:ph type="title"/>
          </p:nvPr>
        </p:nvSpPr>
        <p:spPr>
          <a:xfrm>
            <a:off x="311700" y="2121425"/>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000"/>
              <a:buNone/>
              <a:defRPr/>
            </a:lvl1pPr>
            <a:lvl2pPr lvl="1"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2pPr>
            <a:lvl3pPr lvl="2"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3pPr>
            <a:lvl4pPr lvl="3"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4pPr>
            <a:lvl5pPr lvl="4"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5pPr>
            <a:lvl6pPr lvl="5"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6pPr>
            <a:lvl7pPr lvl="6"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7pPr>
            <a:lvl8pPr lvl="7"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8pPr>
            <a:lvl9pPr lvl="8" rtl="0" algn="ctr">
              <a:lnSpc>
                <a:spcPct val="100000"/>
              </a:lnSpc>
              <a:spcBef>
                <a:spcPts val="0"/>
              </a:spcBef>
              <a:spcAft>
                <a:spcPts val="0"/>
              </a:spcAft>
              <a:buSzPts val="3000"/>
              <a:buFont typeface="Times New Roman"/>
              <a:buNone/>
              <a:defRPr>
                <a:latin typeface="Times New Roman"/>
                <a:ea typeface="Times New Roman"/>
                <a:cs typeface="Times New Roman"/>
                <a:sym typeface="Times New Roman"/>
              </a:defRPr>
            </a:lvl9pPr>
          </a:lstStyle>
          <a:p/>
        </p:txBody>
      </p:sp>
      <p:sp>
        <p:nvSpPr>
          <p:cNvPr id="27" name="Google Shape;2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idx="1" type="body"/>
          </p:nvPr>
        </p:nvSpPr>
        <p:spPr>
          <a:xfrm>
            <a:off x="311700" y="2917550"/>
            <a:ext cx="8520600" cy="16512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Font typeface="Times New Roman"/>
              <a:buChar char="●"/>
              <a:defRPr>
                <a:latin typeface="Times New Roman"/>
                <a:ea typeface="Times New Roman"/>
                <a:cs typeface="Times New Roman"/>
                <a:sym typeface="Times New Roman"/>
              </a:defRPr>
            </a:lvl1pPr>
            <a:lvl2pPr indent="-317500" lvl="1" marL="9144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2pPr>
            <a:lvl3pPr indent="-317500" lvl="2" marL="13716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3pPr>
            <a:lvl4pPr indent="-317500" lvl="3" marL="18288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4pPr>
            <a:lvl5pPr indent="-317500" lvl="4" marL="22860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5pPr>
            <a:lvl6pPr indent="-317500" lvl="5" marL="27432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6pPr>
            <a:lvl7pPr indent="-317500" lvl="6" marL="32004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7pPr>
            <a:lvl8pPr indent="-317500" lvl="7" marL="36576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8pPr>
            <a:lvl9pPr indent="-317500" lvl="8" marL="4114800" rtl="0" algn="l">
              <a:lnSpc>
                <a:spcPct val="115000"/>
              </a:lnSpc>
              <a:spcBef>
                <a:spcPts val="0"/>
              </a:spcBef>
              <a:spcAft>
                <a:spcPts val="0"/>
              </a:spcAft>
              <a:buSzPts val="1400"/>
              <a:buFont typeface="Times New Roman"/>
              <a:buChar char="■"/>
              <a:defRPr>
                <a:latin typeface="Times New Roman"/>
                <a:ea typeface="Times New Roman"/>
                <a:cs typeface="Times New Roman"/>
                <a:sym typeface="Times New Roma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6"/>
          <p:cNvSpPr txBox="1"/>
          <p:nvPr>
            <p:ph type="title"/>
          </p:nvPr>
        </p:nvSpPr>
        <p:spPr>
          <a:xfrm>
            <a:off x="311700" y="140225"/>
            <a:ext cx="8520600" cy="5727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311700" y="923875"/>
            <a:ext cx="3820200" cy="40845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3" name="Google Shape;33;p6"/>
          <p:cNvSpPr txBox="1"/>
          <p:nvPr>
            <p:ph idx="2" type="body"/>
          </p:nvPr>
        </p:nvSpPr>
        <p:spPr>
          <a:xfrm>
            <a:off x="4959900" y="923875"/>
            <a:ext cx="3820200" cy="40845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sp>
        <p:nvSpPr>
          <p:cNvPr id="35" name="Google Shape;35;p7"/>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lt1"/>
              </a:buClr>
              <a:buSzPts val="6800"/>
              <a:buNone/>
              <a:defRPr sz="6800">
                <a:solidFill>
                  <a:schemeClr val="lt1"/>
                </a:solidFill>
              </a:defRPr>
            </a:lvl1pPr>
            <a:lvl2pPr lvl="1" rtl="0" algn="l">
              <a:lnSpc>
                <a:spcPct val="100000"/>
              </a:lnSpc>
              <a:spcBef>
                <a:spcPts val="0"/>
              </a:spcBef>
              <a:spcAft>
                <a:spcPts val="0"/>
              </a:spcAft>
              <a:buClr>
                <a:schemeClr val="lt1"/>
              </a:buClr>
              <a:buSzPts val="6800"/>
              <a:buNone/>
              <a:defRPr sz="6800">
                <a:solidFill>
                  <a:schemeClr val="lt1"/>
                </a:solidFill>
              </a:defRPr>
            </a:lvl2pPr>
            <a:lvl3pPr lvl="2" rtl="0" algn="l">
              <a:lnSpc>
                <a:spcPct val="100000"/>
              </a:lnSpc>
              <a:spcBef>
                <a:spcPts val="0"/>
              </a:spcBef>
              <a:spcAft>
                <a:spcPts val="0"/>
              </a:spcAft>
              <a:buClr>
                <a:schemeClr val="lt1"/>
              </a:buClr>
              <a:buSzPts val="6800"/>
              <a:buNone/>
              <a:defRPr sz="6800">
                <a:solidFill>
                  <a:schemeClr val="lt1"/>
                </a:solidFill>
              </a:defRPr>
            </a:lvl3pPr>
            <a:lvl4pPr lvl="3" rtl="0" algn="l">
              <a:lnSpc>
                <a:spcPct val="100000"/>
              </a:lnSpc>
              <a:spcBef>
                <a:spcPts val="0"/>
              </a:spcBef>
              <a:spcAft>
                <a:spcPts val="0"/>
              </a:spcAft>
              <a:buClr>
                <a:schemeClr val="lt1"/>
              </a:buClr>
              <a:buSzPts val="6800"/>
              <a:buNone/>
              <a:defRPr sz="6800">
                <a:solidFill>
                  <a:schemeClr val="lt1"/>
                </a:solidFill>
              </a:defRPr>
            </a:lvl4pPr>
            <a:lvl5pPr lvl="4" rtl="0" algn="l">
              <a:lnSpc>
                <a:spcPct val="100000"/>
              </a:lnSpc>
              <a:spcBef>
                <a:spcPts val="0"/>
              </a:spcBef>
              <a:spcAft>
                <a:spcPts val="0"/>
              </a:spcAft>
              <a:buClr>
                <a:schemeClr val="lt1"/>
              </a:buClr>
              <a:buSzPts val="6800"/>
              <a:buNone/>
              <a:defRPr sz="6800">
                <a:solidFill>
                  <a:schemeClr val="lt1"/>
                </a:solidFill>
              </a:defRPr>
            </a:lvl5pPr>
            <a:lvl6pPr lvl="5" rtl="0" algn="l">
              <a:lnSpc>
                <a:spcPct val="100000"/>
              </a:lnSpc>
              <a:spcBef>
                <a:spcPts val="0"/>
              </a:spcBef>
              <a:spcAft>
                <a:spcPts val="0"/>
              </a:spcAft>
              <a:buClr>
                <a:schemeClr val="lt1"/>
              </a:buClr>
              <a:buSzPts val="6800"/>
              <a:buNone/>
              <a:defRPr sz="6800">
                <a:solidFill>
                  <a:schemeClr val="lt1"/>
                </a:solidFill>
              </a:defRPr>
            </a:lvl6pPr>
            <a:lvl7pPr lvl="6" rtl="0" algn="l">
              <a:lnSpc>
                <a:spcPct val="100000"/>
              </a:lnSpc>
              <a:spcBef>
                <a:spcPts val="0"/>
              </a:spcBef>
              <a:spcAft>
                <a:spcPts val="0"/>
              </a:spcAft>
              <a:buClr>
                <a:schemeClr val="lt1"/>
              </a:buClr>
              <a:buSzPts val="6800"/>
              <a:buNone/>
              <a:defRPr sz="6800">
                <a:solidFill>
                  <a:schemeClr val="lt1"/>
                </a:solidFill>
              </a:defRPr>
            </a:lvl7pPr>
            <a:lvl8pPr lvl="7" rtl="0" algn="l">
              <a:lnSpc>
                <a:spcPct val="100000"/>
              </a:lnSpc>
              <a:spcBef>
                <a:spcPts val="0"/>
              </a:spcBef>
              <a:spcAft>
                <a:spcPts val="0"/>
              </a:spcAft>
              <a:buClr>
                <a:schemeClr val="lt1"/>
              </a:buClr>
              <a:buSzPts val="6800"/>
              <a:buNone/>
              <a:defRPr sz="6800">
                <a:solidFill>
                  <a:schemeClr val="lt1"/>
                </a:solidFill>
              </a:defRPr>
            </a:lvl8pPr>
            <a:lvl9pPr lvl="8" rtl="0" algn="l">
              <a:lnSpc>
                <a:spcPct val="100000"/>
              </a:lnSpc>
              <a:spcBef>
                <a:spcPts val="0"/>
              </a:spcBef>
              <a:spcAft>
                <a:spcPts val="0"/>
              </a:spcAft>
              <a:buClr>
                <a:schemeClr val="lt1"/>
              </a:buClr>
              <a:buSzPts val="6800"/>
              <a:buNone/>
              <a:defRPr sz="6800">
                <a:solidFill>
                  <a:schemeClr val="lt1"/>
                </a:solidFill>
              </a:defRPr>
            </a:lvl9pPr>
          </a:lstStyle>
          <a:p/>
        </p:txBody>
      </p:sp>
      <p:sp>
        <p:nvSpPr>
          <p:cNvPr id="36" name="Google Shape;3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8"/>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39" name="Google Shape;39;p8"/>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0" name="Google Shape;4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9"/>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800"/>
              <a:buNone/>
              <a:defRPr sz="4800">
                <a:solidFill>
                  <a:schemeClr val="lt1"/>
                </a:solidFill>
              </a:defRPr>
            </a:lvl1pPr>
            <a:lvl2pPr lvl="1" rtl="0" algn="l">
              <a:lnSpc>
                <a:spcPct val="100000"/>
              </a:lnSpc>
              <a:spcBef>
                <a:spcPts val="0"/>
              </a:spcBef>
              <a:spcAft>
                <a:spcPts val="0"/>
              </a:spcAft>
              <a:buClr>
                <a:schemeClr val="lt1"/>
              </a:buClr>
              <a:buSzPts val="4800"/>
              <a:buNone/>
              <a:defRPr sz="4800">
                <a:solidFill>
                  <a:schemeClr val="lt1"/>
                </a:solidFill>
              </a:defRPr>
            </a:lvl2pPr>
            <a:lvl3pPr lvl="2" rtl="0" algn="l">
              <a:lnSpc>
                <a:spcPct val="100000"/>
              </a:lnSpc>
              <a:spcBef>
                <a:spcPts val="0"/>
              </a:spcBef>
              <a:spcAft>
                <a:spcPts val="0"/>
              </a:spcAft>
              <a:buClr>
                <a:schemeClr val="lt1"/>
              </a:buClr>
              <a:buSzPts val="4800"/>
              <a:buNone/>
              <a:defRPr sz="4800">
                <a:solidFill>
                  <a:schemeClr val="lt1"/>
                </a:solidFill>
              </a:defRPr>
            </a:lvl3pPr>
            <a:lvl4pPr lvl="3" rtl="0" algn="l">
              <a:lnSpc>
                <a:spcPct val="100000"/>
              </a:lnSpc>
              <a:spcBef>
                <a:spcPts val="0"/>
              </a:spcBef>
              <a:spcAft>
                <a:spcPts val="0"/>
              </a:spcAft>
              <a:buClr>
                <a:schemeClr val="lt1"/>
              </a:buClr>
              <a:buSzPts val="4800"/>
              <a:buNone/>
              <a:defRPr sz="4800">
                <a:solidFill>
                  <a:schemeClr val="lt1"/>
                </a:solidFill>
              </a:defRPr>
            </a:lvl4pPr>
            <a:lvl5pPr lvl="4" rtl="0" algn="l">
              <a:lnSpc>
                <a:spcPct val="100000"/>
              </a:lnSpc>
              <a:spcBef>
                <a:spcPts val="0"/>
              </a:spcBef>
              <a:spcAft>
                <a:spcPts val="0"/>
              </a:spcAft>
              <a:buClr>
                <a:schemeClr val="lt1"/>
              </a:buClr>
              <a:buSzPts val="4800"/>
              <a:buNone/>
              <a:defRPr sz="4800">
                <a:solidFill>
                  <a:schemeClr val="lt1"/>
                </a:solidFill>
              </a:defRPr>
            </a:lvl5pPr>
            <a:lvl6pPr lvl="5" rtl="0" algn="l">
              <a:lnSpc>
                <a:spcPct val="100000"/>
              </a:lnSpc>
              <a:spcBef>
                <a:spcPts val="0"/>
              </a:spcBef>
              <a:spcAft>
                <a:spcPts val="0"/>
              </a:spcAft>
              <a:buClr>
                <a:schemeClr val="lt1"/>
              </a:buClr>
              <a:buSzPts val="4800"/>
              <a:buNone/>
              <a:defRPr sz="4800">
                <a:solidFill>
                  <a:schemeClr val="lt1"/>
                </a:solidFill>
              </a:defRPr>
            </a:lvl6pPr>
            <a:lvl7pPr lvl="6" rtl="0" algn="l">
              <a:lnSpc>
                <a:spcPct val="100000"/>
              </a:lnSpc>
              <a:spcBef>
                <a:spcPts val="0"/>
              </a:spcBef>
              <a:spcAft>
                <a:spcPts val="0"/>
              </a:spcAft>
              <a:buClr>
                <a:schemeClr val="lt1"/>
              </a:buClr>
              <a:buSzPts val="4800"/>
              <a:buNone/>
              <a:defRPr sz="4800">
                <a:solidFill>
                  <a:schemeClr val="lt1"/>
                </a:solidFill>
              </a:defRPr>
            </a:lvl7pPr>
            <a:lvl8pPr lvl="7" rtl="0" algn="l">
              <a:lnSpc>
                <a:spcPct val="100000"/>
              </a:lnSpc>
              <a:spcBef>
                <a:spcPts val="0"/>
              </a:spcBef>
              <a:spcAft>
                <a:spcPts val="0"/>
              </a:spcAft>
              <a:buClr>
                <a:schemeClr val="lt1"/>
              </a:buClr>
              <a:buSzPts val="4800"/>
              <a:buNone/>
              <a:defRPr sz="4800">
                <a:solidFill>
                  <a:schemeClr val="lt1"/>
                </a:solidFill>
              </a:defRPr>
            </a:lvl8pPr>
            <a:lvl9pPr lvl="8" rtl="0" algn="l">
              <a:lnSpc>
                <a:spcPct val="100000"/>
              </a:lnSpc>
              <a:spcBef>
                <a:spcPts val="0"/>
              </a:spcBef>
              <a:spcAft>
                <a:spcPts val="0"/>
              </a:spcAft>
              <a:buClr>
                <a:schemeClr val="lt1"/>
              </a:buClr>
              <a:buSzPts val="4800"/>
              <a:buNone/>
              <a:defRPr sz="4800">
                <a:solidFill>
                  <a:schemeClr val="lt1"/>
                </a:solidFill>
              </a:defRPr>
            </a:lvl9pPr>
          </a:lstStyle>
          <a:p/>
        </p:txBody>
      </p:sp>
      <p:sp>
        <p:nvSpPr>
          <p:cNvPr id="43" name="Google Shape;4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6" name="Google Shape;4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1"/>
              </a:buClr>
              <a:buSzPts val="11000"/>
              <a:buNone/>
              <a:defRPr sz="11000">
                <a:solidFill>
                  <a:schemeClr val="dk1"/>
                </a:solidFill>
              </a:defRPr>
            </a:lvl1pPr>
            <a:lvl2pPr lvl="1" rtl="0" algn="ctr">
              <a:lnSpc>
                <a:spcPct val="100000"/>
              </a:lnSpc>
              <a:spcBef>
                <a:spcPts val="0"/>
              </a:spcBef>
              <a:spcAft>
                <a:spcPts val="0"/>
              </a:spcAft>
              <a:buClr>
                <a:schemeClr val="dk1"/>
              </a:buClr>
              <a:buSzPts val="11000"/>
              <a:buNone/>
              <a:defRPr sz="11000">
                <a:solidFill>
                  <a:schemeClr val="dk1"/>
                </a:solidFill>
              </a:defRPr>
            </a:lvl2pPr>
            <a:lvl3pPr lvl="2" rtl="0" algn="ctr">
              <a:lnSpc>
                <a:spcPct val="100000"/>
              </a:lnSpc>
              <a:spcBef>
                <a:spcPts val="0"/>
              </a:spcBef>
              <a:spcAft>
                <a:spcPts val="0"/>
              </a:spcAft>
              <a:buClr>
                <a:schemeClr val="dk1"/>
              </a:buClr>
              <a:buSzPts val="11000"/>
              <a:buNone/>
              <a:defRPr sz="11000">
                <a:solidFill>
                  <a:schemeClr val="dk1"/>
                </a:solidFill>
              </a:defRPr>
            </a:lvl3pPr>
            <a:lvl4pPr lvl="3" rtl="0" algn="ctr">
              <a:lnSpc>
                <a:spcPct val="100000"/>
              </a:lnSpc>
              <a:spcBef>
                <a:spcPts val="0"/>
              </a:spcBef>
              <a:spcAft>
                <a:spcPts val="0"/>
              </a:spcAft>
              <a:buClr>
                <a:schemeClr val="dk1"/>
              </a:buClr>
              <a:buSzPts val="11000"/>
              <a:buNone/>
              <a:defRPr sz="11000">
                <a:solidFill>
                  <a:schemeClr val="dk1"/>
                </a:solidFill>
              </a:defRPr>
            </a:lvl4pPr>
            <a:lvl5pPr lvl="4" rtl="0" algn="ctr">
              <a:lnSpc>
                <a:spcPct val="100000"/>
              </a:lnSpc>
              <a:spcBef>
                <a:spcPts val="0"/>
              </a:spcBef>
              <a:spcAft>
                <a:spcPts val="0"/>
              </a:spcAft>
              <a:buClr>
                <a:schemeClr val="dk1"/>
              </a:buClr>
              <a:buSzPts val="11000"/>
              <a:buNone/>
              <a:defRPr sz="11000">
                <a:solidFill>
                  <a:schemeClr val="dk1"/>
                </a:solidFill>
              </a:defRPr>
            </a:lvl5pPr>
            <a:lvl6pPr lvl="5" rtl="0" algn="ctr">
              <a:lnSpc>
                <a:spcPct val="100000"/>
              </a:lnSpc>
              <a:spcBef>
                <a:spcPts val="0"/>
              </a:spcBef>
              <a:spcAft>
                <a:spcPts val="0"/>
              </a:spcAft>
              <a:buClr>
                <a:schemeClr val="dk1"/>
              </a:buClr>
              <a:buSzPts val="11000"/>
              <a:buNone/>
              <a:defRPr sz="11000">
                <a:solidFill>
                  <a:schemeClr val="dk1"/>
                </a:solidFill>
              </a:defRPr>
            </a:lvl6pPr>
            <a:lvl7pPr lvl="6" rtl="0" algn="ctr">
              <a:lnSpc>
                <a:spcPct val="100000"/>
              </a:lnSpc>
              <a:spcBef>
                <a:spcPts val="0"/>
              </a:spcBef>
              <a:spcAft>
                <a:spcPts val="0"/>
              </a:spcAft>
              <a:buClr>
                <a:schemeClr val="dk1"/>
              </a:buClr>
              <a:buSzPts val="11000"/>
              <a:buNone/>
              <a:defRPr sz="11000">
                <a:solidFill>
                  <a:schemeClr val="dk1"/>
                </a:solidFill>
              </a:defRPr>
            </a:lvl7pPr>
            <a:lvl8pPr lvl="7" rtl="0" algn="ctr">
              <a:lnSpc>
                <a:spcPct val="100000"/>
              </a:lnSpc>
              <a:spcBef>
                <a:spcPts val="0"/>
              </a:spcBef>
              <a:spcAft>
                <a:spcPts val="0"/>
              </a:spcAft>
              <a:buClr>
                <a:schemeClr val="dk1"/>
              </a:buClr>
              <a:buSzPts val="11000"/>
              <a:buNone/>
              <a:defRPr sz="11000">
                <a:solidFill>
                  <a:schemeClr val="dk1"/>
                </a:solidFill>
              </a:defRPr>
            </a:lvl8pPr>
            <a:lvl9pPr lvl="8" rtl="0"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49" name="Google Shape;49;p11"/>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50" name="Google Shape;5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13"/>
          <p:cNvSpPr txBox="1"/>
          <p:nvPr>
            <p:ph type="title"/>
          </p:nvPr>
        </p:nvSpPr>
        <p:spPr>
          <a:xfrm>
            <a:off x="457200" y="57150"/>
            <a:ext cx="8229600" cy="740700"/>
          </a:xfrm>
          <a:prstGeom prst="rect">
            <a:avLst/>
          </a:prstGeom>
          <a:noFill/>
          <a:ln>
            <a:noFill/>
          </a:ln>
        </p:spPr>
        <p:txBody>
          <a:bodyPr anchorCtr="0" anchor="ctr" bIns="45700" lIns="91425" spcFirstLastPara="1" rIns="45700" wrap="square" tIns="45700">
            <a:normAutofit/>
          </a:bodyPr>
          <a:lstStyle>
            <a:lvl1pPr lvl="0" algn="l">
              <a:spcBef>
                <a:spcPts val="0"/>
              </a:spcBef>
              <a:spcAft>
                <a:spcPts val="0"/>
              </a:spcAft>
              <a:buClr>
                <a:srgbClr val="FFC700"/>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5" name="Google Shape;55;p13"/>
          <p:cNvSpPr txBox="1"/>
          <p:nvPr>
            <p:ph idx="1" type="body"/>
          </p:nvPr>
        </p:nvSpPr>
        <p:spPr>
          <a:xfrm>
            <a:off x="457200" y="971550"/>
            <a:ext cx="8229600" cy="3943200"/>
          </a:xfrm>
          <a:prstGeom prst="rect">
            <a:avLst/>
          </a:prstGeom>
          <a:noFill/>
          <a:ln>
            <a:noFill/>
          </a:ln>
        </p:spPr>
        <p:txBody>
          <a:bodyPr anchorCtr="0" anchor="t" bIns="45700" lIns="54850" spcFirstLastPara="1" rIns="91425" wrap="square" tIns="91425">
            <a:normAutofit/>
          </a:bodyPr>
          <a:lstStyle>
            <a:lvl1pPr indent="-320040" lvl="0" marL="457200" algn="l">
              <a:spcBef>
                <a:spcPts val="0"/>
              </a:spcBef>
              <a:spcAft>
                <a:spcPts val="0"/>
              </a:spcAft>
              <a:buSzPts val="144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6" name="Google Shape;56;p13"/>
          <p:cNvSpPr txBox="1"/>
          <p:nvPr>
            <p:ph idx="10" type="dt"/>
          </p:nvPr>
        </p:nvSpPr>
        <p:spPr>
          <a:xfrm>
            <a:off x="457200" y="4937760"/>
            <a:ext cx="2133600" cy="205800"/>
          </a:xfrm>
          <a:prstGeom prst="rect">
            <a:avLst/>
          </a:prstGeom>
          <a:noFill/>
          <a:ln>
            <a:noFill/>
          </a:ln>
        </p:spPr>
        <p:txBody>
          <a:bodyPr anchorCtr="0" anchor="b" bIns="0" lIns="1097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1" type="ftr"/>
          </p:nvPr>
        </p:nvSpPr>
        <p:spPr>
          <a:xfrm>
            <a:off x="2640596" y="4937760"/>
            <a:ext cx="5507700" cy="205800"/>
          </a:xfrm>
          <a:prstGeom prst="rect">
            <a:avLst/>
          </a:prstGeom>
          <a:noFill/>
          <a:ln>
            <a:noFill/>
          </a:ln>
        </p:spPr>
        <p:txBody>
          <a:bodyPr anchorCtr="0" anchor="b" bIns="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2" type="sldNum"/>
          </p:nvPr>
        </p:nvSpPr>
        <p:spPr>
          <a:xfrm>
            <a:off x="8204396" y="4937760"/>
            <a:ext cx="733800" cy="205800"/>
          </a:xfrm>
          <a:prstGeom prst="rect">
            <a:avLst/>
          </a:prstGeom>
          <a:noFill/>
          <a:ln>
            <a:noFill/>
          </a:ln>
        </p:spPr>
        <p:txBody>
          <a:bodyPr anchorCtr="0" anchor="b"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_HEADER_1">
    <p:bg>
      <p:bgPr>
        <a:gradFill>
          <a:gsLst>
            <a:gs pos="0">
              <a:srgbClr val="BEC4D3"/>
            </a:gs>
            <a:gs pos="12000">
              <a:srgbClr val="BEC4D3"/>
            </a:gs>
            <a:gs pos="20000">
              <a:srgbClr val="BDC3D1"/>
            </a:gs>
            <a:gs pos="100000">
              <a:srgbClr val="343945"/>
            </a:gs>
          </a:gsLst>
          <a:path path="circle">
            <a:fillToRect b="50%" l="50%" r="50%" t="50%"/>
          </a:path>
          <a:tileRect/>
        </a:gradFill>
      </p:bgPr>
    </p:bg>
    <p:spTree>
      <p:nvGrpSpPr>
        <p:cNvPr id="59" name="Shape 59"/>
        <p:cNvGrpSpPr/>
        <p:nvPr/>
      </p:nvGrpSpPr>
      <p:grpSpPr>
        <a:xfrm>
          <a:off x="0" y="0"/>
          <a:ext cx="0" cy="0"/>
          <a:chOff x="0" y="0"/>
          <a:chExt cx="0" cy="0"/>
        </a:xfrm>
      </p:grpSpPr>
      <p:sp>
        <p:nvSpPr>
          <p:cNvPr id="60" name="Google Shape;60;p14"/>
          <p:cNvSpPr/>
          <p:nvPr/>
        </p:nvSpPr>
        <p:spPr>
          <a:xfrm>
            <a:off x="0" y="0"/>
            <a:ext cx="9144000" cy="1951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61" name="Google Shape;61;p14"/>
          <p:cNvSpPr/>
          <p:nvPr/>
        </p:nvSpPr>
        <p:spPr>
          <a:xfrm>
            <a:off x="0" y="1951890"/>
            <a:ext cx="9144000" cy="342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62" name="Google Shape;62;p14"/>
          <p:cNvSpPr txBox="1"/>
          <p:nvPr>
            <p:ph type="title"/>
          </p:nvPr>
        </p:nvSpPr>
        <p:spPr>
          <a:xfrm>
            <a:off x="749808" y="685800"/>
            <a:ext cx="8013300" cy="1227600"/>
          </a:xfrm>
          <a:prstGeom prst="rect">
            <a:avLst/>
          </a:prstGeom>
          <a:noFill/>
          <a:ln>
            <a:noFill/>
          </a:ln>
        </p:spPr>
        <p:txBody>
          <a:bodyPr anchorCtr="0" anchor="b" bIns="0" lIns="91425" spcFirstLastPara="1" rIns="91425" wrap="square" tIns="0">
            <a:normAutofit/>
          </a:bodyPr>
          <a:lstStyle>
            <a:lvl1pPr lvl="0" algn="l">
              <a:spcBef>
                <a:spcPts val="0"/>
              </a:spcBef>
              <a:spcAft>
                <a:spcPts val="0"/>
              </a:spcAft>
              <a:buClr>
                <a:srgbClr val="FFC700"/>
              </a:buClr>
              <a:buSzPts val="4700"/>
              <a:buFont typeface="Corbel"/>
              <a:buNone/>
              <a:defRPr b="1" sz="4700" cap="none"/>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 name="Google Shape;63;p14"/>
          <p:cNvSpPr txBox="1"/>
          <p:nvPr>
            <p:ph idx="1" type="body"/>
          </p:nvPr>
        </p:nvSpPr>
        <p:spPr>
          <a:xfrm>
            <a:off x="740664" y="2057400"/>
            <a:ext cx="8022300" cy="514500"/>
          </a:xfrm>
          <a:prstGeom prst="rect">
            <a:avLst/>
          </a:prstGeom>
          <a:noFill/>
          <a:ln>
            <a:noFill/>
          </a:ln>
        </p:spPr>
        <p:txBody>
          <a:bodyPr anchorCtr="0" anchor="t" bIns="0" lIns="146300" spcFirstLastPara="1" rIns="45700" wrap="square" tIns="0">
            <a:normAutofit/>
          </a:bodyPr>
          <a:lstStyle>
            <a:lvl1pPr indent="-228600" lvl="0" marL="457200" algn="l">
              <a:spcBef>
                <a:spcPts val="0"/>
              </a:spcBef>
              <a:spcAft>
                <a:spcPts val="0"/>
              </a:spcAft>
              <a:buSzPts val="3200"/>
              <a:buNone/>
              <a:defRPr b="0" sz="4000">
                <a:solidFill>
                  <a:srgbClr val="FFFFFF"/>
                </a:solidFill>
              </a:defRPr>
            </a:lvl1pPr>
            <a:lvl2pPr indent="-228600" lvl="1" marL="914400" algn="l">
              <a:spcBef>
                <a:spcPts val="360"/>
              </a:spcBef>
              <a:spcAft>
                <a:spcPts val="0"/>
              </a:spcAft>
              <a:buSzPts val="1800"/>
              <a:buNone/>
              <a:defRPr sz="1800">
                <a:solidFill>
                  <a:schemeClr val="lt1"/>
                </a:solidFill>
              </a:defRPr>
            </a:lvl2pPr>
            <a:lvl3pPr indent="-228600" lvl="2" marL="1371600" algn="l">
              <a:spcBef>
                <a:spcPts val="320"/>
              </a:spcBef>
              <a:spcAft>
                <a:spcPts val="0"/>
              </a:spcAft>
              <a:buSzPts val="160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64" name="Google Shape;64;p14"/>
          <p:cNvSpPr txBox="1"/>
          <p:nvPr>
            <p:ph idx="10" type="dt"/>
          </p:nvPr>
        </p:nvSpPr>
        <p:spPr>
          <a:xfrm>
            <a:off x="457200" y="4937760"/>
            <a:ext cx="2133600" cy="205800"/>
          </a:xfrm>
          <a:prstGeom prst="rect">
            <a:avLst/>
          </a:prstGeom>
          <a:noFill/>
          <a:ln>
            <a:noFill/>
          </a:ln>
        </p:spPr>
        <p:txBody>
          <a:bodyPr anchorCtr="0" anchor="b" bIns="0" lIns="1097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4"/>
          <p:cNvSpPr txBox="1"/>
          <p:nvPr>
            <p:ph idx="11" type="ftr"/>
          </p:nvPr>
        </p:nvSpPr>
        <p:spPr>
          <a:xfrm>
            <a:off x="2640596" y="4937760"/>
            <a:ext cx="5507700" cy="205800"/>
          </a:xfrm>
          <a:prstGeom prst="rect">
            <a:avLst/>
          </a:prstGeom>
          <a:noFill/>
          <a:ln>
            <a:noFill/>
          </a:ln>
        </p:spPr>
        <p:txBody>
          <a:bodyPr anchorCtr="0" anchor="b" bIns="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
          <p:cNvSpPr txBox="1"/>
          <p:nvPr>
            <p:ph idx="12" type="sldNum"/>
          </p:nvPr>
        </p:nvSpPr>
        <p:spPr>
          <a:xfrm>
            <a:off x="8204396" y="4937760"/>
            <a:ext cx="733800" cy="205800"/>
          </a:xfrm>
          <a:prstGeom prst="rect">
            <a:avLst/>
          </a:prstGeom>
          <a:noFill/>
          <a:ln>
            <a:noFill/>
          </a:ln>
        </p:spPr>
        <p:txBody>
          <a:bodyPr anchorCtr="0" anchor="b"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67" name="Shape 67"/>
        <p:cNvGrpSpPr/>
        <p:nvPr/>
      </p:nvGrpSpPr>
      <p:grpSpPr>
        <a:xfrm>
          <a:off x="0" y="0"/>
          <a:ext cx="0" cy="0"/>
          <a:chOff x="0" y="0"/>
          <a:chExt cx="0" cy="0"/>
        </a:xfrm>
      </p:grpSpPr>
      <p:sp>
        <p:nvSpPr>
          <p:cNvPr id="68" name="Google Shape;68;p15"/>
          <p:cNvSpPr txBox="1"/>
          <p:nvPr>
            <p:ph type="title"/>
          </p:nvPr>
        </p:nvSpPr>
        <p:spPr>
          <a:xfrm>
            <a:off x="457200" y="114300"/>
            <a:ext cx="8229600" cy="628800"/>
          </a:xfrm>
          <a:prstGeom prst="rect">
            <a:avLst/>
          </a:prstGeom>
          <a:noFill/>
          <a:ln>
            <a:noFill/>
          </a:ln>
        </p:spPr>
        <p:txBody>
          <a:bodyPr anchorCtr="0" anchor="ctr" bIns="45700" lIns="91425" spcFirstLastPara="1" rIns="45700" wrap="square" tIns="45700">
            <a:normAutofit/>
          </a:bodyPr>
          <a:lstStyle>
            <a:lvl1pPr lvl="0" algn="l">
              <a:spcBef>
                <a:spcPts val="0"/>
              </a:spcBef>
              <a:spcAft>
                <a:spcPts val="0"/>
              </a:spcAft>
              <a:buClr>
                <a:srgbClr val="FFC700"/>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 name="Google Shape;69;p15"/>
          <p:cNvSpPr txBox="1"/>
          <p:nvPr>
            <p:ph idx="10" type="dt"/>
          </p:nvPr>
        </p:nvSpPr>
        <p:spPr>
          <a:xfrm>
            <a:off x="457200" y="4937760"/>
            <a:ext cx="2133600" cy="205800"/>
          </a:xfrm>
          <a:prstGeom prst="rect">
            <a:avLst/>
          </a:prstGeom>
          <a:noFill/>
          <a:ln>
            <a:noFill/>
          </a:ln>
        </p:spPr>
        <p:txBody>
          <a:bodyPr anchorCtr="0" anchor="b" bIns="0" lIns="1097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5"/>
          <p:cNvSpPr txBox="1"/>
          <p:nvPr>
            <p:ph idx="11" type="ftr"/>
          </p:nvPr>
        </p:nvSpPr>
        <p:spPr>
          <a:xfrm>
            <a:off x="2640596" y="4937760"/>
            <a:ext cx="5507700" cy="205800"/>
          </a:xfrm>
          <a:prstGeom prst="rect">
            <a:avLst/>
          </a:prstGeom>
          <a:noFill/>
          <a:ln>
            <a:noFill/>
          </a:ln>
        </p:spPr>
        <p:txBody>
          <a:bodyPr anchorCtr="0" anchor="b" bIns="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5"/>
          <p:cNvSpPr txBox="1"/>
          <p:nvPr>
            <p:ph idx="12" type="sldNum"/>
          </p:nvPr>
        </p:nvSpPr>
        <p:spPr>
          <a:xfrm>
            <a:off x="8204396" y="4937760"/>
            <a:ext cx="733800" cy="205800"/>
          </a:xfrm>
          <a:prstGeom prst="rect">
            <a:avLst/>
          </a:prstGeom>
          <a:noFill/>
          <a:ln>
            <a:noFill/>
          </a:ln>
        </p:spPr>
        <p:txBody>
          <a:bodyPr anchorCtr="0" anchor="b"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accent3"/>
              </a:buClr>
              <a:buSzPts val="3000"/>
              <a:buFont typeface="Times New Roman"/>
              <a:buNone/>
              <a:defRPr i="0" sz="3000" u="none" cap="none" strike="noStrike">
                <a:solidFill>
                  <a:schemeClr val="accent3"/>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311700" y="1000075"/>
            <a:ext cx="8520600" cy="38748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Times New Roman"/>
              <a:buChar char="●"/>
              <a:defRPr i="0" sz="1800" u="none" cap="none" strike="noStrike">
                <a:solidFill>
                  <a:schemeClr val="dk2"/>
                </a:solidFill>
                <a:latin typeface="Times New Roman"/>
                <a:ea typeface="Times New Roman"/>
                <a:cs typeface="Times New Roman"/>
                <a:sym typeface="Times New Roman"/>
              </a:defRPr>
            </a:lvl1pPr>
            <a:lvl2pPr indent="-317500" lvl="1" marL="9144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2pPr>
            <a:lvl3pPr indent="-317500" lvl="2" marL="13716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3pPr>
            <a:lvl4pPr indent="-317500" lvl="3" marL="18288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4pPr>
            <a:lvl5pPr indent="-317500" lvl="4" marL="22860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5pPr>
            <a:lvl6pPr indent="-317500" lvl="5" marL="27432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6pPr>
            <a:lvl7pPr indent="-317500" lvl="6" marL="32004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7pPr>
            <a:lvl8pPr indent="-317500" lvl="7" marL="36576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8pPr>
            <a:lvl9pPr indent="-317500" lvl="8" marL="4114800" marR="0" rtl="0" algn="l">
              <a:lnSpc>
                <a:spcPct val="115000"/>
              </a:lnSpc>
              <a:spcBef>
                <a:spcPts val="0"/>
              </a:spcBef>
              <a:spcAft>
                <a:spcPts val="0"/>
              </a:spcAft>
              <a:buClr>
                <a:schemeClr val="dk2"/>
              </a:buClr>
              <a:buSzPts val="1400"/>
              <a:buFont typeface="Times New Roman"/>
              <a:buChar char="■"/>
              <a:defRPr i="0" sz="1400" u="none" cap="none" strike="noStrike">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gif"/><Relationship Id="rId5" Type="http://schemas.openxmlformats.org/officeDocument/2006/relationships/image" Target="../media/image4.jpg"/><Relationship Id="rId6" Type="http://schemas.openxmlformats.org/officeDocument/2006/relationships/image" Target="../media/image1.png"/><Relationship Id="rId7"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ctrTitle"/>
          </p:nvPr>
        </p:nvSpPr>
        <p:spPr>
          <a:xfrm>
            <a:off x="311700" y="595975"/>
            <a:ext cx="8520600" cy="195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759"/>
              <a:t>Chapter 6: </a:t>
            </a:r>
            <a:br>
              <a:rPr lang="en" sz="3759"/>
            </a:br>
            <a:r>
              <a:rPr lang="en" sz="3759"/>
              <a:t>Recommendation Systems</a:t>
            </a:r>
            <a:endParaRPr sz="3759"/>
          </a:p>
        </p:txBody>
      </p:sp>
      <p:sp>
        <p:nvSpPr>
          <p:cNvPr id="77" name="Google Shape;77;p16"/>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Outlines</a:t>
            </a:r>
            <a:endParaRPr/>
          </a:p>
        </p:txBody>
      </p:sp>
      <p:sp>
        <p:nvSpPr>
          <p:cNvPr id="84" name="Google Shape;84;p17"/>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Introduction to recommender systems</a:t>
            </a:r>
            <a:endParaRPr/>
          </a:p>
          <a:p>
            <a:pPr indent="-342900" lvl="0" marL="457200" rtl="0" algn="l">
              <a:spcBef>
                <a:spcPts val="0"/>
              </a:spcBef>
              <a:spcAft>
                <a:spcPts val="0"/>
              </a:spcAft>
              <a:buSzPts val="1800"/>
              <a:buAutoNum type="arabicPeriod"/>
            </a:pPr>
            <a:r>
              <a:rPr lang="en"/>
              <a:t>A Model for Recommendation Systems</a:t>
            </a:r>
            <a:endParaRPr/>
          </a:p>
          <a:p>
            <a:pPr indent="-342900" lvl="0" marL="457200" rtl="0" algn="l">
              <a:spcBef>
                <a:spcPts val="0"/>
              </a:spcBef>
              <a:spcAft>
                <a:spcPts val="0"/>
              </a:spcAft>
              <a:buSzPts val="1800"/>
              <a:buAutoNum type="arabicPeriod"/>
            </a:pPr>
            <a:r>
              <a:rPr lang="en"/>
              <a:t>Content-based filtering</a:t>
            </a:r>
            <a:endParaRPr/>
          </a:p>
          <a:p>
            <a:pPr indent="-342900" lvl="0" marL="457200" rtl="0" algn="l">
              <a:spcBef>
                <a:spcPts val="0"/>
              </a:spcBef>
              <a:spcAft>
                <a:spcPts val="0"/>
              </a:spcAft>
              <a:buSzPts val="1800"/>
              <a:buAutoNum type="arabicPeriod"/>
            </a:pPr>
            <a:r>
              <a:rPr lang="en"/>
              <a:t>Collaborative filtering</a:t>
            </a:r>
            <a:endParaRPr/>
          </a:p>
          <a:p>
            <a:pPr indent="0" lvl="0" marL="0" rtl="0" algn="l">
              <a:spcBef>
                <a:spcPts val="0"/>
              </a:spcBef>
              <a:spcAft>
                <a:spcPts val="0"/>
              </a:spcAft>
              <a:buNone/>
            </a:pPr>
            <a:r>
              <a:t/>
            </a:r>
            <a:endParaRPr/>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Introduction to recommender systems</a:t>
            </a:r>
            <a:endParaRPr/>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2" name="Google Shape;92;p18"/>
          <p:cNvSpPr/>
          <p:nvPr/>
        </p:nvSpPr>
        <p:spPr>
          <a:xfrm>
            <a:off x="1600200" y="3733800"/>
            <a:ext cx="1371600" cy="1066800"/>
          </a:xfrm>
          <a:prstGeom prst="can">
            <a:avLst>
              <a:gd fmla="val 25000" name="adj"/>
            </a:avLst>
          </a:prstGeom>
          <a:solidFill>
            <a:srgbClr val="99CC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2000">
                <a:solidFill>
                  <a:srgbClr val="000000"/>
                </a:solidFill>
                <a:latin typeface="Arial"/>
                <a:ea typeface="Arial"/>
                <a:cs typeface="Arial"/>
                <a:sym typeface="Arial"/>
              </a:rPr>
              <a:t>Items</a:t>
            </a:r>
            <a:endParaRPr/>
          </a:p>
        </p:txBody>
      </p:sp>
      <p:pic>
        <p:nvPicPr>
          <p:cNvPr descr="MCBS01705_0000[1]" id="93" name="Google Shape;93;p18"/>
          <p:cNvPicPr preferRelativeResize="0"/>
          <p:nvPr/>
        </p:nvPicPr>
        <p:blipFill rotWithShape="1">
          <a:blip r:embed="rId3">
            <a:alphaModFix/>
          </a:blip>
          <a:srcRect b="0" l="0" r="0" t="0"/>
          <a:stretch/>
        </p:blipFill>
        <p:spPr>
          <a:xfrm>
            <a:off x="1371600" y="609600"/>
            <a:ext cx="1758951" cy="1773237"/>
          </a:xfrm>
          <a:prstGeom prst="rect">
            <a:avLst/>
          </a:prstGeom>
          <a:noFill/>
          <a:ln>
            <a:noFill/>
          </a:ln>
        </p:spPr>
      </p:pic>
      <p:sp>
        <p:nvSpPr>
          <p:cNvPr id="94" name="Google Shape;94;p18"/>
          <p:cNvSpPr txBox="1"/>
          <p:nvPr/>
        </p:nvSpPr>
        <p:spPr>
          <a:xfrm>
            <a:off x="3048000" y="4038600"/>
            <a:ext cx="2619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000">
                <a:solidFill>
                  <a:srgbClr val="000000"/>
                </a:solidFill>
                <a:latin typeface="Arial"/>
                <a:ea typeface="Arial"/>
                <a:cs typeface="Arial"/>
                <a:sym typeface="Arial"/>
              </a:rPr>
              <a:t>Products, web sites, </a:t>
            </a:r>
            <a:br>
              <a:rPr lang="en" sz="2000">
                <a:solidFill>
                  <a:srgbClr val="000000"/>
                </a:solidFill>
                <a:latin typeface="Arial"/>
                <a:ea typeface="Arial"/>
                <a:cs typeface="Arial"/>
                <a:sym typeface="Arial"/>
              </a:rPr>
            </a:br>
            <a:r>
              <a:rPr lang="en" sz="2000">
                <a:solidFill>
                  <a:srgbClr val="000000"/>
                </a:solidFill>
                <a:latin typeface="Arial"/>
                <a:ea typeface="Arial"/>
                <a:cs typeface="Arial"/>
                <a:sym typeface="Arial"/>
              </a:rPr>
              <a:t>blogs, news items, …</a:t>
            </a:r>
            <a:endParaRPr/>
          </a:p>
        </p:txBody>
      </p:sp>
      <p:pic>
        <p:nvPicPr>
          <p:cNvPr descr="http://blog.hubspot.com/Portals/249/images/amazon_logo.gif" id="95" name="Google Shape;95;p18"/>
          <p:cNvPicPr preferRelativeResize="0"/>
          <p:nvPr/>
        </p:nvPicPr>
        <p:blipFill rotWithShape="1">
          <a:blip r:embed="rId4">
            <a:alphaModFix/>
          </a:blip>
          <a:srcRect b="0" l="0" r="0" t="0"/>
          <a:stretch/>
        </p:blipFill>
        <p:spPr>
          <a:xfrm>
            <a:off x="7239013" y="762000"/>
            <a:ext cx="1796244" cy="666750"/>
          </a:xfrm>
          <a:prstGeom prst="rect">
            <a:avLst/>
          </a:prstGeom>
          <a:noFill/>
          <a:ln>
            <a:noFill/>
          </a:ln>
        </p:spPr>
      </p:pic>
      <p:pic>
        <p:nvPicPr>
          <p:cNvPr descr="http://scrapetv.com/News/News%20Pages/Business/images-5/netflix-logo.jpg" id="96" name="Google Shape;96;p18"/>
          <p:cNvPicPr preferRelativeResize="0"/>
          <p:nvPr/>
        </p:nvPicPr>
        <p:blipFill rotWithShape="1">
          <a:blip r:embed="rId5">
            <a:alphaModFix/>
          </a:blip>
          <a:srcRect b="0" l="0" r="0" t="0"/>
          <a:stretch/>
        </p:blipFill>
        <p:spPr>
          <a:xfrm>
            <a:off x="7640238" y="1504950"/>
            <a:ext cx="993775" cy="993775"/>
          </a:xfrm>
          <a:prstGeom prst="rect">
            <a:avLst/>
          </a:prstGeom>
          <a:noFill/>
          <a:ln>
            <a:noFill/>
          </a:ln>
        </p:spPr>
      </p:pic>
      <p:sp>
        <p:nvSpPr>
          <p:cNvPr id="97" name="Google Shape;97;p18"/>
          <p:cNvSpPr txBox="1"/>
          <p:nvPr/>
        </p:nvSpPr>
        <p:spPr>
          <a:xfrm rot="5400000">
            <a:off x="1362075" y="2806700"/>
            <a:ext cx="9525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rgbClr val="000000"/>
              </a:solidFill>
              <a:latin typeface="Arial"/>
              <a:ea typeface="Arial"/>
              <a:cs typeface="Arial"/>
              <a:sym typeface="Arial"/>
            </a:endParaRPr>
          </a:p>
        </p:txBody>
      </p:sp>
      <p:sp>
        <p:nvSpPr>
          <p:cNvPr id="98" name="Google Shape;98;p18"/>
          <p:cNvSpPr txBox="1"/>
          <p:nvPr/>
        </p:nvSpPr>
        <p:spPr>
          <a:xfrm>
            <a:off x="285751" y="2655876"/>
            <a:ext cx="1428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0000"/>
                </a:solidFill>
                <a:latin typeface="Arial"/>
                <a:ea typeface="Arial"/>
                <a:cs typeface="Arial"/>
                <a:sym typeface="Arial"/>
              </a:rPr>
              <a:t>Search</a:t>
            </a:r>
            <a:endParaRPr/>
          </a:p>
        </p:txBody>
      </p:sp>
      <p:sp>
        <p:nvSpPr>
          <p:cNvPr id="99" name="Google Shape;99;p18"/>
          <p:cNvSpPr txBox="1"/>
          <p:nvPr/>
        </p:nvSpPr>
        <p:spPr>
          <a:xfrm rot="5400000">
            <a:off x="2116138" y="2949575"/>
            <a:ext cx="9525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rgbClr val="000000"/>
              </a:solidFill>
              <a:latin typeface="Arial"/>
              <a:ea typeface="Arial"/>
              <a:cs typeface="Arial"/>
              <a:sym typeface="Arial"/>
            </a:endParaRPr>
          </a:p>
        </p:txBody>
      </p:sp>
      <p:sp>
        <p:nvSpPr>
          <p:cNvPr id="100" name="Google Shape;100;p18"/>
          <p:cNvSpPr txBox="1"/>
          <p:nvPr/>
        </p:nvSpPr>
        <p:spPr>
          <a:xfrm>
            <a:off x="2727325" y="2678124"/>
            <a:ext cx="2857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0000"/>
                </a:solidFill>
                <a:latin typeface="Arial"/>
                <a:ea typeface="Arial"/>
                <a:cs typeface="Arial"/>
                <a:sym typeface="Arial"/>
              </a:rPr>
              <a:t>Recommendations</a:t>
            </a:r>
            <a:endParaRPr/>
          </a:p>
        </p:txBody>
      </p:sp>
      <p:pic>
        <p:nvPicPr>
          <p:cNvPr descr="http://blog.ithenticate.com/wp-content/uploads/2010/11/google-news-logo.png" id="101" name="Google Shape;101;p18"/>
          <p:cNvPicPr preferRelativeResize="0"/>
          <p:nvPr/>
        </p:nvPicPr>
        <p:blipFill rotWithShape="1">
          <a:blip r:embed="rId6">
            <a:alphaModFix/>
          </a:blip>
          <a:srcRect b="0" l="0" r="0" t="0"/>
          <a:stretch/>
        </p:blipFill>
        <p:spPr>
          <a:xfrm>
            <a:off x="7422763" y="2701925"/>
            <a:ext cx="1428750" cy="952500"/>
          </a:xfrm>
          <a:prstGeom prst="rect">
            <a:avLst/>
          </a:prstGeom>
          <a:noFill/>
          <a:ln>
            <a:noFill/>
          </a:ln>
        </p:spPr>
      </p:pic>
      <p:pic>
        <p:nvPicPr>
          <p:cNvPr descr="http://upload.moldova.org/IT/logos/youtube_logo.gif" id="102" name="Google Shape;102;p18"/>
          <p:cNvPicPr preferRelativeResize="0"/>
          <p:nvPr/>
        </p:nvPicPr>
        <p:blipFill rotWithShape="1">
          <a:blip r:embed="rId7">
            <a:alphaModFix/>
          </a:blip>
          <a:srcRect b="0" l="0" r="0" t="0"/>
          <a:stretch/>
        </p:blipFill>
        <p:spPr>
          <a:xfrm>
            <a:off x="7527550" y="3581400"/>
            <a:ext cx="1219200" cy="1219201"/>
          </a:xfrm>
          <a:prstGeom prst="rect">
            <a:avLst/>
          </a:prstGeom>
          <a:noFill/>
          <a:ln>
            <a:noFill/>
          </a:ln>
        </p:spPr>
      </p:pic>
      <p:cxnSp>
        <p:nvCxnSpPr>
          <p:cNvPr id="103" name="Google Shape;103;p18"/>
          <p:cNvCxnSpPr>
            <a:stCxn id="97" idx="1"/>
          </p:cNvCxnSpPr>
          <p:nvPr/>
        </p:nvCxnSpPr>
        <p:spPr>
          <a:xfrm>
            <a:off x="1838325" y="2330450"/>
            <a:ext cx="8100" cy="1415100"/>
          </a:xfrm>
          <a:prstGeom prst="straightConnector1">
            <a:avLst/>
          </a:prstGeom>
          <a:noFill/>
          <a:ln cap="flat" cmpd="sng" w="19050">
            <a:solidFill>
              <a:schemeClr val="dk2"/>
            </a:solidFill>
            <a:prstDash val="solid"/>
            <a:round/>
            <a:headEnd len="med" w="med" type="none"/>
            <a:tailEnd len="med" w="med" type="triangle"/>
          </a:ln>
        </p:spPr>
      </p:cxnSp>
      <p:cxnSp>
        <p:nvCxnSpPr>
          <p:cNvPr id="104" name="Google Shape;104;p18"/>
          <p:cNvCxnSpPr/>
          <p:nvPr/>
        </p:nvCxnSpPr>
        <p:spPr>
          <a:xfrm>
            <a:off x="2584300" y="2318225"/>
            <a:ext cx="8100" cy="1415100"/>
          </a:xfrm>
          <a:prstGeom prst="straightConnector1">
            <a:avLst/>
          </a:prstGeom>
          <a:noFill/>
          <a:ln cap="flat" cmpd="sng" w="19050">
            <a:solidFill>
              <a:schemeClr val="dk2"/>
            </a:solidFill>
            <a:prstDash val="solid"/>
            <a:round/>
            <a:headEnd len="med" w="med" type="stealth"/>
            <a:tailEnd len="med" w="med" type="none"/>
          </a:ln>
        </p:spPr>
      </p:cxnSp>
      <p:sp>
        <p:nvSpPr>
          <p:cNvPr id="105" name="Google Shape;105;p18"/>
          <p:cNvSpPr txBox="1"/>
          <p:nvPr/>
        </p:nvSpPr>
        <p:spPr>
          <a:xfrm>
            <a:off x="0" y="0"/>
            <a:ext cx="45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6" name="Google Shape;106;p18"/>
          <p:cNvSpPr txBox="1"/>
          <p:nvPr/>
        </p:nvSpPr>
        <p:spPr>
          <a:xfrm>
            <a:off x="2485300" y="4746025"/>
            <a:ext cx="38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a:t>https://web.stanford.edu/class/cs246/</a:t>
            </a:r>
            <a:endParaRPr/>
          </a:p>
        </p:txBody>
      </p:sp>
      <p:sp>
        <p:nvSpPr>
          <p:cNvPr id="107" name="Google Shape;107;p18"/>
          <p:cNvSpPr txBox="1"/>
          <p:nvPr/>
        </p:nvSpPr>
        <p:spPr>
          <a:xfrm>
            <a:off x="3130550" y="787475"/>
            <a:ext cx="4108500" cy="109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800">
                <a:solidFill>
                  <a:schemeClr val="dk2"/>
                </a:solidFill>
                <a:latin typeface="Times New Roman"/>
                <a:ea typeface="Times New Roman"/>
                <a:cs typeface="Times New Roman"/>
                <a:sym typeface="Times New Roman"/>
              </a:rPr>
              <a:t>Recommender Systems (RSs) recommend to their users personalized and ranked lists of items.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Introduction to recommender systems</a:t>
            </a:r>
            <a:endParaRPr/>
          </a:p>
        </p:txBody>
      </p:sp>
      <p:sp>
        <p:nvSpPr>
          <p:cNvPr id="113" name="Google Shape;113;p19"/>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a:t>
            </a:r>
            <a:r>
              <a:rPr b="1" lang="en"/>
              <a:t>wo main groups:</a:t>
            </a:r>
            <a:endParaRPr b="1"/>
          </a:p>
          <a:p>
            <a:pPr indent="-342900" lvl="0" marL="457200" rtl="0" algn="l">
              <a:spcBef>
                <a:spcPts val="0"/>
              </a:spcBef>
              <a:spcAft>
                <a:spcPts val="0"/>
              </a:spcAft>
              <a:buSzPts val="1800"/>
              <a:buChar char="●"/>
            </a:pPr>
            <a:r>
              <a:rPr lang="en"/>
              <a:t>Content-based systems examine properties of the items recommended. </a:t>
            </a:r>
            <a:endParaRPr/>
          </a:p>
          <a:p>
            <a:pPr indent="-317500" lvl="1" marL="914400" rtl="0" algn="l">
              <a:spcBef>
                <a:spcPts val="0"/>
              </a:spcBef>
              <a:spcAft>
                <a:spcPts val="0"/>
              </a:spcAft>
              <a:buSzPts val="1400"/>
              <a:buChar char="○"/>
            </a:pPr>
            <a:r>
              <a:rPr lang="en"/>
              <a:t>For instance, if a Netflix user has watched many cowboy movies, then recommend a movie classified in the database as having the “cowboy” genre.</a:t>
            </a:r>
            <a:endParaRPr/>
          </a:p>
          <a:p>
            <a:pPr indent="-342900" lvl="0" marL="457200" rtl="0" algn="l">
              <a:spcBef>
                <a:spcPts val="0"/>
              </a:spcBef>
              <a:spcAft>
                <a:spcPts val="0"/>
              </a:spcAft>
              <a:buSzPts val="1800"/>
              <a:buChar char="●"/>
            </a:pPr>
            <a:r>
              <a:rPr lang="en"/>
              <a:t>Collaborative filtering systems recommend items based on similarity measures between users and/or items. The items recommended to a user are those preferred by similar users.</a:t>
            </a:r>
            <a:endParaRPr/>
          </a:p>
          <a:p>
            <a:pPr indent="0" lvl="0" marL="0" rtl="0" algn="l">
              <a:spcBef>
                <a:spcPts val="0"/>
              </a:spcBef>
              <a:spcAft>
                <a:spcPts val="0"/>
              </a:spcAft>
              <a:buNone/>
            </a:pPr>
            <a:r>
              <a:t/>
            </a:r>
            <a:endParaRPr/>
          </a:p>
        </p:txBody>
      </p:sp>
      <p:sp>
        <p:nvSpPr>
          <p:cNvPr id="114" name="Google Shape;11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21214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 Model for Recommendation Systems</a:t>
            </a:r>
            <a:endParaRPr/>
          </a:p>
        </p:txBody>
      </p:sp>
      <p:sp>
        <p:nvSpPr>
          <p:cNvPr id="120" name="Google Shape;120;p20"/>
          <p:cNvSpPr txBox="1"/>
          <p:nvPr>
            <p:ph idx="1" type="body"/>
          </p:nvPr>
        </p:nvSpPr>
        <p:spPr>
          <a:xfrm>
            <a:off x="311700" y="2917550"/>
            <a:ext cx="8520600" cy="165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21" name="Google Shape;12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 Model for Recommendation Systems</a:t>
            </a:r>
            <a:endParaRPr/>
          </a:p>
        </p:txBody>
      </p:sp>
      <p:sp>
        <p:nvSpPr>
          <p:cNvPr id="127" name="Google Shape;127;p21"/>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The Utility Matrix</a:t>
            </a:r>
            <a:endParaRPr b="1"/>
          </a:p>
          <a:p>
            <a:pPr indent="-342900" lvl="0" marL="457200" rtl="0" algn="l">
              <a:spcBef>
                <a:spcPts val="0"/>
              </a:spcBef>
              <a:spcAft>
                <a:spcPts val="0"/>
              </a:spcAft>
              <a:buSzPts val="1800"/>
              <a:buChar char="●"/>
            </a:pPr>
            <a:r>
              <a:rPr lang="en"/>
              <a:t>Two classes of entities: </a:t>
            </a:r>
            <a:r>
              <a:rPr i="1" lang="en"/>
              <a:t>users</a:t>
            </a:r>
            <a:r>
              <a:rPr lang="en"/>
              <a:t> and </a:t>
            </a:r>
            <a:r>
              <a:rPr i="1" lang="en"/>
              <a:t>items</a:t>
            </a:r>
            <a:r>
              <a:rPr lang="en"/>
              <a:t>. </a:t>
            </a:r>
            <a:endParaRPr/>
          </a:p>
          <a:p>
            <a:pPr indent="-342900" lvl="0" marL="457200" rtl="0" algn="l">
              <a:spcBef>
                <a:spcPts val="0"/>
              </a:spcBef>
              <a:spcAft>
                <a:spcPts val="0"/>
              </a:spcAft>
              <a:buSzPts val="1800"/>
              <a:buChar char="●"/>
            </a:pPr>
            <a:r>
              <a:rPr i="1" lang="en"/>
              <a:t>Users</a:t>
            </a:r>
            <a:r>
              <a:rPr lang="en"/>
              <a:t> have preferences for certain </a:t>
            </a:r>
            <a:r>
              <a:rPr i="1" lang="en"/>
              <a:t>items</a:t>
            </a:r>
            <a:r>
              <a:rPr lang="en"/>
              <a:t>, and these preferences must be teased out of the data. </a:t>
            </a:r>
            <a:endParaRPr/>
          </a:p>
          <a:p>
            <a:pPr indent="-342900" lvl="0" marL="457200" rtl="0" algn="l">
              <a:spcBef>
                <a:spcPts val="0"/>
              </a:spcBef>
              <a:spcAft>
                <a:spcPts val="0"/>
              </a:spcAft>
              <a:buSzPts val="1800"/>
              <a:buChar char="●"/>
            </a:pPr>
            <a:r>
              <a:rPr lang="en"/>
              <a:t>The data itself is represented as a </a:t>
            </a:r>
            <a:r>
              <a:rPr i="1" lang="en"/>
              <a:t>utility matrix</a:t>
            </a:r>
            <a:r>
              <a:rPr lang="en"/>
              <a:t>, giving for each user-item pair, a value represents </a:t>
            </a:r>
            <a:r>
              <a:rPr lang="en">
                <a:highlight>
                  <a:srgbClr val="D9EAD3"/>
                </a:highlight>
              </a:rPr>
              <a:t>the degree of preference of that user for that item.</a:t>
            </a:r>
            <a:endParaRPr>
              <a:highlight>
                <a:srgbClr val="D9EAD3"/>
              </a:highlight>
            </a:endParaRPr>
          </a:p>
          <a:p>
            <a:pPr indent="0" lvl="0" marL="0" rtl="0" algn="l">
              <a:spcBef>
                <a:spcPts val="0"/>
              </a:spcBef>
              <a:spcAft>
                <a:spcPts val="0"/>
              </a:spcAft>
              <a:buNone/>
            </a:pPr>
            <a:r>
              <a:t/>
            </a:r>
            <a:endParaRPr/>
          </a:p>
        </p:txBody>
      </p:sp>
      <p:sp>
        <p:nvSpPr>
          <p:cNvPr id="128" name="Google Shape;12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 Model for Recommendation Systems</a:t>
            </a:r>
            <a:endParaRPr/>
          </a:p>
        </p:txBody>
      </p:sp>
      <p:sp>
        <p:nvSpPr>
          <p:cNvPr id="134" name="Google Shape;134;p22"/>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The Utility Matrix</a:t>
            </a:r>
            <a:endParaRPr b="1"/>
          </a:p>
          <a:p>
            <a:pPr indent="0" lvl="0" marL="0" rtl="0" algn="l">
              <a:spcBef>
                <a:spcPts val="0"/>
              </a:spcBef>
              <a:spcAft>
                <a:spcPts val="0"/>
              </a:spcAft>
              <a:buNone/>
            </a:pPr>
            <a:r>
              <a:rPr lang="en"/>
              <a:t>The goal of a recommendation system is to predict the blanks in the utility matrix. </a:t>
            </a:r>
            <a:endParaRPr b="1"/>
          </a:p>
          <a:p>
            <a:pPr indent="0" lvl="0" marL="0" rtl="0" algn="l">
              <a:spcBef>
                <a:spcPts val="0"/>
              </a:spcBef>
              <a:spcAft>
                <a:spcPts val="0"/>
              </a:spcAft>
              <a:buNone/>
            </a:pPr>
            <a:r>
              <a:rPr lang="en"/>
              <a:t>Example: </a:t>
            </a:r>
            <a:endParaRPr/>
          </a:p>
          <a:p>
            <a:pPr indent="-342900" lvl="0" marL="457200" rtl="0" algn="l">
              <a:spcBef>
                <a:spcPts val="0"/>
              </a:spcBef>
              <a:spcAft>
                <a:spcPts val="0"/>
              </a:spcAft>
              <a:buSzPts val="1800"/>
              <a:buChar char="●"/>
            </a:pPr>
            <a:r>
              <a:rPr lang="en"/>
              <a:t>A utility matrix represent users’ ratings of movies on a 1–5 scale, with 5 the highest rating. Blanks represent the situation where the user has not rated the movie.</a:t>
            </a:r>
            <a:endParaRPr/>
          </a:p>
          <a:p>
            <a:pPr indent="-342900" lvl="0" marL="457200" rtl="0" algn="l">
              <a:spcBef>
                <a:spcPts val="0"/>
              </a:spcBef>
              <a:spcAft>
                <a:spcPts val="0"/>
              </a:spcAft>
              <a:buSzPts val="1800"/>
              <a:buChar char="●"/>
            </a:pPr>
            <a:r>
              <a:rPr lang="en"/>
              <a:t>The movie names are HP1, HP2, and HP3 for Harry Potter I, II, and III, TW for Twilight, and SW1, SW2, and SW3 for Star Wars episodes 1, 2, and 3. </a:t>
            </a:r>
            <a:br>
              <a:rPr lang="en"/>
            </a:br>
            <a:r>
              <a:rPr lang="en"/>
              <a:t>The users are represented by capital letters A through 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36" name="Google Shape;136;p22"/>
          <p:cNvPicPr preferRelativeResize="0"/>
          <p:nvPr/>
        </p:nvPicPr>
        <p:blipFill>
          <a:blip r:embed="rId3">
            <a:alphaModFix/>
          </a:blip>
          <a:stretch>
            <a:fillRect/>
          </a:stretch>
        </p:blipFill>
        <p:spPr>
          <a:xfrm>
            <a:off x="1506400" y="3434425"/>
            <a:ext cx="5835900" cy="1592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 Model for Recommendation Systems</a:t>
            </a:r>
            <a:endParaRPr/>
          </a:p>
        </p:txBody>
      </p:sp>
      <p:sp>
        <p:nvSpPr>
          <p:cNvPr id="142" name="Google Shape;142;p23"/>
          <p:cNvSpPr txBox="1"/>
          <p:nvPr>
            <p:ph idx="1" type="body"/>
          </p:nvPr>
        </p:nvSpPr>
        <p:spPr>
          <a:xfrm>
            <a:off x="69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The Long Tail</a:t>
            </a:r>
            <a:endParaRPr b="1"/>
          </a:p>
          <a:p>
            <a:pPr indent="-342900" lvl="0" marL="457200" rtl="0" algn="l">
              <a:spcBef>
                <a:spcPts val="0"/>
              </a:spcBef>
              <a:spcAft>
                <a:spcPts val="0"/>
              </a:spcAft>
              <a:buSzPts val="1800"/>
              <a:buChar char="●"/>
            </a:pPr>
            <a:r>
              <a:rPr lang="en"/>
              <a:t>Recommendation in the physical world is fairly simple. </a:t>
            </a:r>
            <a:endParaRPr/>
          </a:p>
          <a:p>
            <a:pPr indent="-317500" lvl="1" marL="914400" rtl="0" algn="l">
              <a:spcBef>
                <a:spcPts val="0"/>
              </a:spcBef>
              <a:spcAft>
                <a:spcPts val="0"/>
              </a:spcAft>
              <a:buSzPts val="1400"/>
              <a:buChar char="○"/>
            </a:pPr>
            <a:r>
              <a:rPr lang="en"/>
              <a:t>A bookstore will display only the books that are most popular</a:t>
            </a:r>
            <a:endParaRPr/>
          </a:p>
          <a:p>
            <a:pPr indent="-317500" lvl="1" marL="914400" rtl="0" algn="l">
              <a:spcBef>
                <a:spcPts val="0"/>
              </a:spcBef>
              <a:spcAft>
                <a:spcPts val="0"/>
              </a:spcAft>
              <a:buSzPts val="1400"/>
              <a:buChar char="○"/>
            </a:pPr>
            <a:r>
              <a:rPr lang="en"/>
              <a:t>A newspaper will print only the articles it believes the most people will be interested in.</a:t>
            </a:r>
            <a:endParaRPr/>
          </a:p>
          <a:p>
            <a:pPr indent="-342900" lvl="0" marL="457200" rtl="0" algn="l">
              <a:spcBef>
                <a:spcPts val="0"/>
              </a:spcBef>
              <a:spcAft>
                <a:spcPts val="0"/>
              </a:spcAft>
              <a:buSzPts val="1800"/>
              <a:buChar char="●"/>
            </a:pPr>
            <a:r>
              <a:rPr lang="en"/>
              <a:t>Physical institutions provide only the most popular items to the left of the vertical line, while the corresponding online institutions provide the entire range of items: the tail as well as the popular items.</a:t>
            </a:r>
            <a:endParaRPr/>
          </a:p>
          <a:p>
            <a:pPr indent="0" lvl="0" marL="0" rtl="0" algn="l">
              <a:spcBef>
                <a:spcPts val="0"/>
              </a:spcBef>
              <a:spcAft>
                <a:spcPts val="0"/>
              </a:spcAft>
              <a:buNone/>
            </a:pPr>
            <a:r>
              <a:t/>
            </a:r>
            <a:endParaRPr/>
          </a:p>
        </p:txBody>
      </p:sp>
      <p:sp>
        <p:nvSpPr>
          <p:cNvPr id="143" name="Google Shape;14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descr="Anatomy edit" id="144" name="Google Shape;144;p23"/>
          <p:cNvPicPr preferRelativeResize="0"/>
          <p:nvPr/>
        </p:nvPicPr>
        <p:blipFill rotWithShape="1">
          <a:blip r:embed="rId3">
            <a:alphaModFix/>
          </a:blip>
          <a:srcRect b="0" l="0" r="0" t="0"/>
          <a:stretch/>
        </p:blipFill>
        <p:spPr>
          <a:xfrm>
            <a:off x="3689825" y="2658450"/>
            <a:ext cx="5454175" cy="2482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 Model for Recommendation Systems</a:t>
            </a:r>
            <a:endParaRPr/>
          </a:p>
        </p:txBody>
      </p:sp>
      <p:sp>
        <p:nvSpPr>
          <p:cNvPr id="150" name="Google Shape;150;p24"/>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Populating the Utility Matrix</a:t>
            </a:r>
            <a:endParaRPr b="1"/>
          </a:p>
          <a:p>
            <a:pPr indent="0" lvl="0" marL="0" rtl="0" algn="l">
              <a:spcBef>
                <a:spcPts val="0"/>
              </a:spcBef>
              <a:spcAft>
                <a:spcPts val="0"/>
              </a:spcAft>
              <a:buNone/>
            </a:pPr>
            <a:r>
              <a:rPr lang="en"/>
              <a:t>Acquiring data from which to build a utility matrix is often difficult. </a:t>
            </a:r>
            <a:endParaRPr/>
          </a:p>
          <a:p>
            <a:pPr indent="0" lvl="0" marL="0" rtl="0" algn="l">
              <a:spcBef>
                <a:spcPts val="0"/>
              </a:spcBef>
              <a:spcAft>
                <a:spcPts val="0"/>
              </a:spcAft>
              <a:buNone/>
            </a:pPr>
            <a:r>
              <a:rPr lang="en"/>
              <a:t>Two general approaches discover the value users place on items.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We can ask users to rate items. </a:t>
            </a:r>
            <a:endParaRPr/>
          </a:p>
          <a:p>
            <a:pPr indent="-317500" lvl="1" marL="914400" rtl="0" algn="l">
              <a:spcBef>
                <a:spcPts val="0"/>
              </a:spcBef>
              <a:spcAft>
                <a:spcPts val="0"/>
              </a:spcAft>
              <a:buSzPts val="1400"/>
              <a:buChar char="○"/>
            </a:pPr>
            <a:r>
              <a:rPr lang="en"/>
              <a:t>This approach is limited in its effectiveness, since generally users are unwilling to provide responses, and the information from those who do may be biased by the very fact that it comes from people willing to provide ratings. </a:t>
            </a:r>
            <a:endParaRPr/>
          </a:p>
          <a:p>
            <a:pPr indent="-342900" lvl="0" marL="457200" rtl="0" algn="l">
              <a:spcBef>
                <a:spcPts val="0"/>
              </a:spcBef>
              <a:spcAft>
                <a:spcPts val="0"/>
              </a:spcAft>
              <a:buSzPts val="1800"/>
              <a:buChar char="●"/>
            </a:pPr>
            <a:r>
              <a:rPr lang="en"/>
              <a:t>We can make inferences from users’ behavior. </a:t>
            </a:r>
            <a:endParaRPr/>
          </a:p>
          <a:p>
            <a:pPr indent="-317500" lvl="1" marL="914400" rtl="0" algn="l">
              <a:spcBef>
                <a:spcPts val="0"/>
              </a:spcBef>
              <a:spcAft>
                <a:spcPts val="0"/>
              </a:spcAft>
              <a:buSzPts val="1400"/>
              <a:buChar char="○"/>
            </a:pPr>
            <a:r>
              <a:rPr lang="en"/>
              <a:t>If a user buys a product at Amazon or  views information about an item, watches a movie on YouTube, or reads a news article, then the user can be said to “like” this item.</a:t>
            </a:r>
            <a:endParaRPr/>
          </a:p>
        </p:txBody>
      </p:sp>
      <p:sp>
        <p:nvSpPr>
          <p:cNvPr id="151" name="Google Shape;15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21214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Content-Based Recommendations</a:t>
            </a:r>
            <a:endParaRPr/>
          </a:p>
        </p:txBody>
      </p:sp>
      <p:sp>
        <p:nvSpPr>
          <p:cNvPr id="157" name="Google Shape;157;p25"/>
          <p:cNvSpPr txBox="1"/>
          <p:nvPr>
            <p:ph idx="1" type="body"/>
          </p:nvPr>
        </p:nvSpPr>
        <p:spPr>
          <a:xfrm>
            <a:off x="311700" y="2917550"/>
            <a:ext cx="8520600" cy="165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58" name="Google Shape;15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164" name="Google Shape;164;p26"/>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Content-Based systems focus on properties of items. Similarity of items is determined by measuring the similarity in their properties.</a:t>
            </a:r>
            <a:endParaRPr/>
          </a:p>
          <a:p>
            <a:pPr indent="-342900" lvl="0" marL="457200" rtl="0" algn="l">
              <a:spcBef>
                <a:spcPts val="0"/>
              </a:spcBef>
              <a:spcAft>
                <a:spcPts val="0"/>
              </a:spcAft>
              <a:buSzPts val="1800"/>
              <a:buChar char="●"/>
            </a:pPr>
            <a:r>
              <a:rPr lang="en"/>
              <a:t>Main idea: </a:t>
            </a:r>
            <a:endParaRPr/>
          </a:p>
          <a:p>
            <a:pPr indent="-317500" lvl="1" marL="914400" rtl="0" algn="l">
              <a:spcBef>
                <a:spcPts val="0"/>
              </a:spcBef>
              <a:spcAft>
                <a:spcPts val="0"/>
              </a:spcAft>
              <a:buSzPts val="1400"/>
              <a:buChar char="○"/>
            </a:pPr>
            <a:r>
              <a:rPr lang="en"/>
              <a:t>Recommend items to customer x similar to previous items rated highly by x</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Movie recommendations</a:t>
            </a:r>
            <a:endParaRPr/>
          </a:p>
          <a:p>
            <a:pPr indent="-317500" lvl="2" marL="1371600" rtl="0" algn="l">
              <a:spcBef>
                <a:spcPts val="0"/>
              </a:spcBef>
              <a:spcAft>
                <a:spcPts val="0"/>
              </a:spcAft>
              <a:buSzPts val="1400"/>
              <a:buChar char="■"/>
            </a:pPr>
            <a:r>
              <a:rPr lang="en"/>
              <a:t>Recommend movies with same actor(s),  director, genre, …</a:t>
            </a:r>
            <a:endParaRPr/>
          </a:p>
          <a:p>
            <a:pPr indent="-317500" lvl="1" marL="914400" rtl="0" algn="l">
              <a:spcBef>
                <a:spcPts val="0"/>
              </a:spcBef>
              <a:spcAft>
                <a:spcPts val="0"/>
              </a:spcAft>
              <a:buSzPts val="1400"/>
              <a:buChar char="○"/>
            </a:pPr>
            <a:r>
              <a:rPr lang="en"/>
              <a:t>Websites, blogs, news</a:t>
            </a:r>
            <a:endParaRPr/>
          </a:p>
          <a:p>
            <a:pPr indent="-317500" lvl="2" marL="1371600" rtl="0" algn="l">
              <a:spcBef>
                <a:spcPts val="0"/>
              </a:spcBef>
              <a:spcAft>
                <a:spcPts val="0"/>
              </a:spcAft>
              <a:buSzPts val="1400"/>
              <a:buChar char="■"/>
            </a:pPr>
            <a:r>
              <a:rPr lang="en"/>
              <a:t>Recommend other sites with “similar” content</a:t>
            </a:r>
            <a:endParaRPr/>
          </a:p>
        </p:txBody>
      </p:sp>
      <p:sp>
        <p:nvSpPr>
          <p:cNvPr id="165" name="Google Shape;16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457200" y="42863"/>
            <a:ext cx="8229600" cy="5556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None/>
            </a:pPr>
            <a:r>
              <a:rPr lang="en"/>
              <a:t>Content-Based Recommendations</a:t>
            </a:r>
            <a:endParaRPr/>
          </a:p>
        </p:txBody>
      </p:sp>
      <p:pic>
        <p:nvPicPr>
          <p:cNvPr descr="MCBS01705_0000[1]" id="172" name="Google Shape;172;p27"/>
          <p:cNvPicPr preferRelativeResize="0"/>
          <p:nvPr/>
        </p:nvPicPr>
        <p:blipFill rotWithShape="1">
          <a:blip r:embed="rId3">
            <a:alphaModFix/>
          </a:blip>
          <a:srcRect b="0" l="0" r="0" t="0"/>
          <a:stretch/>
        </p:blipFill>
        <p:spPr>
          <a:xfrm>
            <a:off x="1371600" y="971550"/>
            <a:ext cx="1319213" cy="1329929"/>
          </a:xfrm>
          <a:prstGeom prst="rect">
            <a:avLst/>
          </a:prstGeom>
          <a:noFill/>
          <a:ln>
            <a:noFill/>
          </a:ln>
        </p:spPr>
      </p:pic>
      <p:sp>
        <p:nvSpPr>
          <p:cNvPr id="173" name="Google Shape;173;p27"/>
          <p:cNvSpPr/>
          <p:nvPr/>
        </p:nvSpPr>
        <p:spPr>
          <a:xfrm>
            <a:off x="5867400" y="1600200"/>
            <a:ext cx="533400" cy="400200"/>
          </a:xfrm>
          <a:prstGeom prst="ellipse">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4" name="Google Shape;174;p27"/>
          <p:cNvSpPr/>
          <p:nvPr/>
        </p:nvSpPr>
        <p:spPr>
          <a:xfrm>
            <a:off x="2362200" y="3486150"/>
            <a:ext cx="533400" cy="400200"/>
          </a:xfrm>
          <a:prstGeom prst="ellipse">
            <a:avLst/>
          </a:prstGeom>
          <a:solidFill>
            <a:srgbClr val="008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5" name="Google Shape;175;p27"/>
          <p:cNvSpPr/>
          <p:nvPr/>
        </p:nvSpPr>
        <p:spPr>
          <a:xfrm>
            <a:off x="2362200" y="4057650"/>
            <a:ext cx="457200" cy="342900"/>
          </a:xfrm>
          <a:prstGeom prst="rect">
            <a:avLst/>
          </a:prstGeom>
          <a:solidFill>
            <a:srgbClr val="008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7"/>
          <p:cNvSpPr/>
          <p:nvPr/>
        </p:nvSpPr>
        <p:spPr>
          <a:xfrm>
            <a:off x="1524000" y="4057650"/>
            <a:ext cx="457200" cy="342900"/>
          </a:xfrm>
          <a:prstGeom prst="rect">
            <a:avLst/>
          </a:prstGeom>
          <a:solidFill>
            <a:srgbClr val="00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7" name="Google Shape;177;p27"/>
          <p:cNvSpPr/>
          <p:nvPr/>
        </p:nvSpPr>
        <p:spPr>
          <a:xfrm>
            <a:off x="6705600" y="1600200"/>
            <a:ext cx="685800" cy="400200"/>
          </a:xfrm>
          <a:prstGeom prst="triangle">
            <a:avLst>
              <a:gd fmla="val 50000" name="adj"/>
            </a:avLst>
          </a:prstGeom>
          <a:solidFill>
            <a:srgbClr val="C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7"/>
          <p:cNvSpPr/>
          <p:nvPr/>
        </p:nvSpPr>
        <p:spPr>
          <a:xfrm>
            <a:off x="1447800" y="3486150"/>
            <a:ext cx="685800" cy="400200"/>
          </a:xfrm>
          <a:prstGeom prst="hexagon">
            <a:avLst>
              <a:gd fmla="val 32143" name="adj"/>
              <a:gd fmla="val 115470" name="vf"/>
            </a:avLst>
          </a:prstGeom>
          <a:solidFill>
            <a:srgbClr val="C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9" name="Google Shape;179;p27"/>
          <p:cNvSpPr/>
          <p:nvPr/>
        </p:nvSpPr>
        <p:spPr>
          <a:xfrm>
            <a:off x="3810000" y="1714500"/>
            <a:ext cx="1219200" cy="228600"/>
          </a:xfrm>
          <a:prstGeom prst="rightArrow">
            <a:avLst>
              <a:gd fmla="val 50000" name="adj1"/>
              <a:gd fmla="val 10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0" name="Google Shape;180;p27"/>
          <p:cNvSpPr txBox="1"/>
          <p:nvPr/>
        </p:nvSpPr>
        <p:spPr>
          <a:xfrm>
            <a:off x="3810000" y="1407319"/>
            <a:ext cx="753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Arial"/>
                <a:ea typeface="Arial"/>
                <a:cs typeface="Arial"/>
                <a:sym typeface="Arial"/>
              </a:rPr>
              <a:t>likes</a:t>
            </a:r>
            <a:endParaRPr/>
          </a:p>
        </p:txBody>
      </p:sp>
      <p:sp>
        <p:nvSpPr>
          <p:cNvPr id="181" name="Google Shape;181;p27"/>
          <p:cNvSpPr txBox="1"/>
          <p:nvPr/>
        </p:nvSpPr>
        <p:spPr>
          <a:xfrm>
            <a:off x="5698753" y="1008269"/>
            <a:ext cx="2013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u="sng">
                <a:solidFill>
                  <a:srgbClr val="008000"/>
                </a:solidFill>
                <a:latin typeface="Arial"/>
                <a:ea typeface="Arial"/>
                <a:cs typeface="Arial"/>
                <a:sym typeface="Arial"/>
              </a:rPr>
              <a:t>Item profiles</a:t>
            </a:r>
            <a:endParaRPr/>
          </a:p>
        </p:txBody>
      </p:sp>
      <p:sp>
        <p:nvSpPr>
          <p:cNvPr id="182" name="Google Shape;182;p27"/>
          <p:cNvSpPr/>
          <p:nvPr/>
        </p:nvSpPr>
        <p:spPr>
          <a:xfrm>
            <a:off x="6553200" y="2343150"/>
            <a:ext cx="304800" cy="971700"/>
          </a:xfrm>
          <a:prstGeom prst="downArrow">
            <a:avLst>
              <a:gd fmla="val 50000" name="adj1"/>
              <a:gd fmla="val 10625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3" name="Google Shape;183;p27"/>
          <p:cNvSpPr/>
          <p:nvPr/>
        </p:nvSpPr>
        <p:spPr>
          <a:xfrm>
            <a:off x="5562600" y="1485900"/>
            <a:ext cx="2057400" cy="628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4" name="Google Shape;184;p27"/>
          <p:cNvSpPr/>
          <p:nvPr/>
        </p:nvSpPr>
        <p:spPr>
          <a:xfrm>
            <a:off x="5562600" y="3486150"/>
            <a:ext cx="2209800" cy="857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 sz="2000">
                <a:solidFill>
                  <a:srgbClr val="C00000"/>
                </a:solidFill>
                <a:latin typeface="Arial"/>
                <a:ea typeface="Arial"/>
                <a:cs typeface="Arial"/>
                <a:sym typeface="Arial"/>
              </a:rPr>
              <a:t>Red</a:t>
            </a:r>
            <a:endParaRPr b="1" sz="2000">
              <a:solidFill>
                <a:srgbClr val="C00000"/>
              </a:solidFill>
              <a:latin typeface="Arial"/>
              <a:ea typeface="Arial"/>
              <a:cs typeface="Arial"/>
              <a:sym typeface="Arial"/>
            </a:endParaRPr>
          </a:p>
          <a:p>
            <a:pPr indent="0" lvl="0" marL="0" marR="0" rtl="0" algn="ctr">
              <a:spcBef>
                <a:spcPts val="0"/>
              </a:spcBef>
              <a:spcAft>
                <a:spcPts val="0"/>
              </a:spcAft>
              <a:buNone/>
            </a:pPr>
            <a:r>
              <a:rPr b="1" lang="en" sz="2000">
                <a:solidFill>
                  <a:schemeClr val="dk1"/>
                </a:solidFill>
                <a:latin typeface="Arial"/>
                <a:ea typeface="Arial"/>
                <a:cs typeface="Arial"/>
                <a:sym typeface="Arial"/>
              </a:rPr>
              <a:t>Circles</a:t>
            </a:r>
            <a:endParaRPr/>
          </a:p>
          <a:p>
            <a:pPr indent="0" lvl="0" marL="0" marR="0" rtl="0" algn="ctr">
              <a:spcBef>
                <a:spcPts val="0"/>
              </a:spcBef>
              <a:spcAft>
                <a:spcPts val="0"/>
              </a:spcAft>
              <a:buNone/>
            </a:pPr>
            <a:r>
              <a:rPr b="1" lang="en" sz="2000">
                <a:solidFill>
                  <a:schemeClr val="dk1"/>
                </a:solidFill>
                <a:latin typeface="Arial"/>
                <a:ea typeface="Arial"/>
                <a:cs typeface="Arial"/>
                <a:sym typeface="Arial"/>
              </a:rPr>
              <a:t>Triangles</a:t>
            </a:r>
            <a:endParaRPr/>
          </a:p>
        </p:txBody>
      </p:sp>
      <p:sp>
        <p:nvSpPr>
          <p:cNvPr id="185" name="Google Shape;185;p27"/>
          <p:cNvSpPr txBox="1"/>
          <p:nvPr/>
        </p:nvSpPr>
        <p:spPr>
          <a:xfrm>
            <a:off x="5791200" y="4457700"/>
            <a:ext cx="189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u="sng">
                <a:solidFill>
                  <a:srgbClr val="008000"/>
                </a:solidFill>
                <a:latin typeface="Arial"/>
                <a:ea typeface="Arial"/>
                <a:cs typeface="Arial"/>
                <a:sym typeface="Arial"/>
              </a:rPr>
              <a:t>User profile</a:t>
            </a:r>
            <a:endParaRPr/>
          </a:p>
        </p:txBody>
      </p:sp>
      <p:sp>
        <p:nvSpPr>
          <p:cNvPr id="186" name="Google Shape;186;p27"/>
          <p:cNvSpPr/>
          <p:nvPr/>
        </p:nvSpPr>
        <p:spPr>
          <a:xfrm>
            <a:off x="3733800" y="3829050"/>
            <a:ext cx="1219200" cy="228600"/>
          </a:xfrm>
          <a:prstGeom prst="leftArrow">
            <a:avLst>
              <a:gd fmla="val 50000" name="adj1"/>
              <a:gd fmla="val 10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7" name="Google Shape;187;p27"/>
          <p:cNvSpPr txBox="1"/>
          <p:nvPr/>
        </p:nvSpPr>
        <p:spPr>
          <a:xfrm>
            <a:off x="3937119" y="3543300"/>
            <a:ext cx="939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Arial"/>
                <a:ea typeface="Arial"/>
                <a:cs typeface="Arial"/>
                <a:sym typeface="Arial"/>
              </a:rPr>
              <a:t>match</a:t>
            </a:r>
            <a:endParaRPr/>
          </a:p>
        </p:txBody>
      </p:sp>
      <p:sp>
        <p:nvSpPr>
          <p:cNvPr id="188" name="Google Shape;188;p27"/>
          <p:cNvSpPr/>
          <p:nvPr/>
        </p:nvSpPr>
        <p:spPr>
          <a:xfrm>
            <a:off x="2057400" y="2457450"/>
            <a:ext cx="228600" cy="800100"/>
          </a:xfrm>
          <a:prstGeom prst="upArrow">
            <a:avLst>
              <a:gd fmla="val 50000" name="adj1"/>
              <a:gd fmla="val 116667"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9" name="Google Shape;189;p27"/>
          <p:cNvSpPr txBox="1"/>
          <p:nvPr/>
        </p:nvSpPr>
        <p:spPr>
          <a:xfrm>
            <a:off x="365125" y="2786018"/>
            <a:ext cx="1638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Arial"/>
                <a:ea typeface="Arial"/>
                <a:cs typeface="Arial"/>
                <a:sym typeface="Arial"/>
              </a:rPr>
              <a:t>recommend</a:t>
            </a:r>
            <a:endParaRPr/>
          </a:p>
        </p:txBody>
      </p:sp>
      <p:sp>
        <p:nvSpPr>
          <p:cNvPr id="190" name="Google Shape;190;p27"/>
          <p:cNvSpPr txBox="1"/>
          <p:nvPr/>
        </p:nvSpPr>
        <p:spPr>
          <a:xfrm>
            <a:off x="6842125" y="2607469"/>
            <a:ext cx="797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Arial"/>
                <a:ea typeface="Arial"/>
                <a:cs typeface="Arial"/>
                <a:sym typeface="Arial"/>
              </a:rPr>
              <a:t>build</a:t>
            </a:r>
            <a:endParaRPr/>
          </a:p>
        </p:txBody>
      </p:sp>
      <p:sp>
        <p:nvSpPr>
          <p:cNvPr id="191" name="Google Shape;191;p27"/>
          <p:cNvSpPr txBox="1"/>
          <p:nvPr>
            <p:ph idx="12" type="sldNum"/>
          </p:nvPr>
        </p:nvSpPr>
        <p:spPr>
          <a:xfrm>
            <a:off x="8204396" y="3703320"/>
            <a:ext cx="733800" cy="154500"/>
          </a:xfrm>
          <a:prstGeom prst="rect">
            <a:avLst/>
          </a:prstGeom>
          <a:noFill/>
          <a:ln>
            <a:noFill/>
          </a:ln>
        </p:spPr>
        <p:txBody>
          <a:bodyPr anchorCtr="0" anchor="b" bIns="0" lIns="91425" spcFirstLastPara="1" rIns="91425" wrap="square" tIns="45700">
            <a:normAutofit fontScale="85000" lnSpcReduction="20000"/>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197" name="Google Shape;197;p28"/>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Item Profiles: </a:t>
            </a:r>
            <a:r>
              <a:rPr lang="en"/>
              <a:t>collections of records representing important characteristics of that item.</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Profile is a set (vector) of features</a:t>
            </a:r>
            <a:endParaRPr/>
          </a:p>
          <a:p>
            <a:pPr indent="-317500" lvl="1" marL="914400" rtl="0" algn="l">
              <a:spcBef>
                <a:spcPts val="0"/>
              </a:spcBef>
              <a:spcAft>
                <a:spcPts val="0"/>
              </a:spcAft>
              <a:buSzPts val="1400"/>
              <a:buChar char="○"/>
            </a:pPr>
            <a:r>
              <a:rPr lang="en"/>
              <a:t>Movies: author, title, actor, director,…</a:t>
            </a:r>
            <a:endParaRPr/>
          </a:p>
          <a:p>
            <a:pPr indent="-317500" lvl="1" marL="914400" rtl="0" algn="l">
              <a:spcBef>
                <a:spcPts val="0"/>
              </a:spcBef>
              <a:spcAft>
                <a:spcPts val="0"/>
              </a:spcAft>
              <a:buSzPts val="1400"/>
              <a:buChar char="○"/>
            </a:pPr>
            <a:r>
              <a:rPr lang="en"/>
              <a:t>Text: set of “important” words in document</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How to pick important features?</a:t>
            </a:r>
            <a:endParaRPr/>
          </a:p>
          <a:p>
            <a:pPr indent="-317500" lvl="1" marL="914400" rtl="0" algn="l">
              <a:spcBef>
                <a:spcPts val="0"/>
              </a:spcBef>
              <a:spcAft>
                <a:spcPts val="0"/>
              </a:spcAft>
              <a:buSzPts val="1400"/>
              <a:buChar char="○"/>
            </a:pPr>
            <a:r>
              <a:rPr lang="en"/>
              <a:t>Usual heuristic from text mining is TF-IDF</a:t>
            </a:r>
            <a:endParaRPr/>
          </a:p>
          <a:p>
            <a:pPr indent="-317500" lvl="1" marL="914400" rtl="0" algn="l">
              <a:spcBef>
                <a:spcPts val="0"/>
              </a:spcBef>
              <a:spcAft>
                <a:spcPts val="0"/>
              </a:spcAft>
              <a:buSzPts val="1400"/>
              <a:buChar char="○"/>
            </a:pPr>
            <a:r>
              <a:rPr lang="en"/>
              <a:t>(Term frequency * Inverse Doc Frequency)</a:t>
            </a:r>
            <a:endParaRPr/>
          </a:p>
        </p:txBody>
      </p:sp>
      <p:sp>
        <p:nvSpPr>
          <p:cNvPr id="198" name="Google Shape;19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04" name="Google Shape;204;p29"/>
          <p:cNvSpPr txBox="1"/>
          <p:nvPr>
            <p:ph idx="1" type="body"/>
          </p:nvPr>
        </p:nvSpPr>
        <p:spPr>
          <a:xfrm>
            <a:off x="311700" y="771475"/>
            <a:ext cx="8520600" cy="410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Discovering Features of Documents</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Eliminate stop words. </a:t>
            </a:r>
            <a:endParaRPr/>
          </a:p>
          <a:p>
            <a:pPr indent="-342900" lvl="0" marL="457200" rtl="0" algn="l">
              <a:spcBef>
                <a:spcPts val="0"/>
              </a:spcBef>
              <a:spcAft>
                <a:spcPts val="0"/>
              </a:spcAft>
              <a:buSzPts val="1800"/>
              <a:buChar char="●"/>
            </a:pPr>
            <a:r>
              <a:rPr lang="en"/>
              <a:t>Compute the TF.IDF score for each word in the document.</a:t>
            </a:r>
            <a:endParaRPr/>
          </a:p>
          <a:p>
            <a:pPr indent="-342900" lvl="0" marL="457200" rtl="0" algn="l">
              <a:spcBef>
                <a:spcPts val="0"/>
              </a:spcBef>
              <a:spcAft>
                <a:spcPts val="0"/>
              </a:spcAft>
              <a:buSzPts val="1800"/>
              <a:buChar char="●"/>
            </a:pPr>
            <a:r>
              <a:rPr lang="en"/>
              <a:t>Take the n words with the highest TF.IDF scores as features of the document.</a:t>
            </a:r>
            <a:endParaRPr/>
          </a:p>
          <a:p>
            <a:pPr indent="-342900" lvl="0" marL="457200" rtl="0" algn="l">
              <a:spcBef>
                <a:spcPts val="0"/>
              </a:spcBef>
              <a:spcAft>
                <a:spcPts val="0"/>
              </a:spcAft>
              <a:buSzPts val="1800"/>
              <a:buChar char="●"/>
            </a:pPr>
            <a:r>
              <a:rPr lang="en"/>
              <a:t>To measure the similarity of two documents, there are several natural distance measures:</a:t>
            </a:r>
            <a:endParaRPr/>
          </a:p>
          <a:p>
            <a:pPr indent="-317500" lvl="1" marL="914400" rtl="0" algn="l">
              <a:spcBef>
                <a:spcPts val="0"/>
              </a:spcBef>
              <a:spcAft>
                <a:spcPts val="0"/>
              </a:spcAft>
              <a:buSzPts val="1400"/>
              <a:buChar char="○"/>
            </a:pPr>
            <a:r>
              <a:rPr lang="en"/>
              <a:t>Jaccard distance</a:t>
            </a:r>
            <a:endParaRPr/>
          </a:p>
          <a:p>
            <a:pPr indent="-317500" lvl="1" marL="914400" rtl="0" algn="l">
              <a:spcBef>
                <a:spcPts val="0"/>
              </a:spcBef>
              <a:spcAft>
                <a:spcPts val="0"/>
              </a:spcAft>
              <a:buSzPts val="1400"/>
              <a:buChar char="○"/>
            </a:pPr>
            <a:r>
              <a:rPr lang="en"/>
              <a:t>cosine distance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5" name="Google Shape;20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11" name="Google Shape;211;p30"/>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Obtaining Item Features From Tags </a:t>
            </a:r>
            <a:endParaRPr b="1"/>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Obtaining information about features of items by inviting users to tag the items by entering words or phrases that describe the item. </a:t>
            </a:r>
            <a:endParaRPr/>
          </a:p>
          <a:p>
            <a:pPr indent="-342900" lvl="0" marL="457200" rtl="0" algn="l">
              <a:spcBef>
                <a:spcPts val="0"/>
              </a:spcBef>
              <a:spcAft>
                <a:spcPts val="0"/>
              </a:spcAft>
              <a:buSzPts val="1800"/>
              <a:buChar char="●"/>
            </a:pPr>
            <a:r>
              <a:rPr lang="en"/>
              <a:t>The problem with tagging as an approach to feature discovery is that the process only works if users are willing to take the trouble to create the tags, and there are enough tags that occasional erroneous ones will not bias the system too much</a:t>
            </a:r>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2" name="Google Shape;21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18" name="Google Shape;218;p31"/>
          <p:cNvSpPr txBox="1"/>
          <p:nvPr>
            <p:ph idx="1" type="body"/>
          </p:nvPr>
        </p:nvSpPr>
        <p:spPr>
          <a:xfrm>
            <a:off x="311700" y="771475"/>
            <a:ext cx="8520600" cy="410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User profile:</a:t>
            </a:r>
            <a:endParaRPr/>
          </a:p>
          <a:p>
            <a:pPr indent="-342900" lvl="0" marL="457200" rtl="0" algn="l">
              <a:spcBef>
                <a:spcPts val="0"/>
              </a:spcBef>
              <a:spcAft>
                <a:spcPts val="0"/>
              </a:spcAft>
              <a:buSzPts val="1800"/>
              <a:buChar char="●"/>
            </a:pPr>
            <a:r>
              <a:rPr lang="en"/>
              <a:t>User has rated items with profiles i</a:t>
            </a:r>
            <a:r>
              <a:rPr baseline="-25000" lang="en"/>
              <a:t>1</a:t>
            </a:r>
            <a:r>
              <a:rPr lang="en"/>
              <a:t>, …, i</a:t>
            </a:r>
            <a:r>
              <a:rPr baseline="-25000" lang="en"/>
              <a:t>n</a:t>
            </a:r>
            <a:endParaRPr baseline="-25000"/>
          </a:p>
          <a:p>
            <a:pPr indent="-342900" lvl="0" marL="457200" rtl="0" algn="l">
              <a:spcBef>
                <a:spcPts val="0"/>
              </a:spcBef>
              <a:spcAft>
                <a:spcPts val="0"/>
              </a:spcAft>
              <a:buSzPts val="1800"/>
              <a:buChar char="●"/>
            </a:pPr>
            <a:r>
              <a:rPr lang="en"/>
              <a:t>Simple: (weighted) average of rated item profiles</a:t>
            </a:r>
            <a:endParaRPr/>
          </a:p>
          <a:p>
            <a:pPr indent="-342900" lvl="0" marL="457200" rtl="0" algn="l">
              <a:spcBef>
                <a:spcPts val="0"/>
              </a:spcBef>
              <a:spcAft>
                <a:spcPts val="0"/>
              </a:spcAft>
              <a:buSzPts val="1800"/>
              <a:buChar char="●"/>
            </a:pPr>
            <a:r>
              <a:rPr lang="en"/>
              <a:t>Variation: normalize </a:t>
            </a:r>
            <a:r>
              <a:rPr lang="en"/>
              <a:t>weights by difference from average rating of user </a:t>
            </a:r>
            <a:endParaRPr/>
          </a:p>
          <a:p>
            <a:pPr indent="-342900" lvl="0" marL="457200" rtl="0" algn="l">
              <a:spcBef>
                <a:spcPts val="0"/>
              </a:spcBef>
              <a:spcAft>
                <a:spcPts val="0"/>
              </a:spcAft>
              <a:buSzPts val="1800"/>
              <a:buChar char="●"/>
            </a:pPr>
            <a:r>
              <a:rPr lang="en"/>
              <a:t>Some other sophisticated aggregations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9" name="Google Shape;21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25" name="Google Shape;225;p32"/>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User Profiles</a:t>
            </a:r>
            <a:endParaRPr/>
          </a:p>
          <a:p>
            <a:pPr indent="0" lvl="0" marL="0" rtl="0" algn="l">
              <a:spcBef>
                <a:spcPts val="0"/>
              </a:spcBef>
              <a:spcAft>
                <a:spcPts val="0"/>
              </a:spcAft>
              <a:buNone/>
            </a:pPr>
            <a:r>
              <a:t/>
            </a:r>
            <a:endParaRPr sz="1700"/>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6" name="Google Shape;22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227" name="Google Shape;227;p32"/>
          <p:cNvGraphicFramePr/>
          <p:nvPr/>
        </p:nvGraphicFramePr>
        <p:xfrm>
          <a:off x="3808800" y="20138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M3</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28" name="Google Shape;228;p32"/>
          <p:cNvGraphicFramePr/>
          <p:nvPr/>
        </p:nvGraphicFramePr>
        <p:xfrm>
          <a:off x="455025" y="2013825"/>
          <a:ext cx="3000000" cy="3000000"/>
        </p:xfrm>
        <a:graphic>
          <a:graphicData uri="http://schemas.openxmlformats.org/drawingml/2006/table">
            <a:tbl>
              <a:tblPr>
                <a:noFill/>
                <a:tableStyleId>{89F7746B-9FF5-4B47-A26D-855030D7CD54}</a:tableStyleId>
              </a:tblPr>
              <a:tblGrid>
                <a:gridCol w="719500"/>
                <a:gridCol w="719500"/>
                <a:gridCol w="719500"/>
                <a:gridCol w="719500"/>
              </a:tblGrid>
              <a:tr h="381000">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M3</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29" name="Google Shape;229;p32"/>
          <p:cNvGraphicFramePr/>
          <p:nvPr/>
        </p:nvGraphicFramePr>
        <p:xfrm>
          <a:off x="3800775" y="41335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r>
            </a:tbl>
          </a:graphicData>
        </a:graphic>
      </p:graphicFrame>
      <p:sp>
        <p:nvSpPr>
          <p:cNvPr id="230" name="Google Shape;230;p32"/>
          <p:cNvSpPr txBox="1"/>
          <p:nvPr/>
        </p:nvSpPr>
        <p:spPr>
          <a:xfrm>
            <a:off x="5832300" y="36718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Times New Roman"/>
                <a:ea typeface="Times New Roman"/>
                <a:cs typeface="Times New Roman"/>
                <a:sym typeface="Times New Roman"/>
              </a:rPr>
              <a:t>User profile</a:t>
            </a:r>
            <a:endParaRPr sz="1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36" name="Google Shape;236;p33"/>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7" name="Google Shape;23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238" name="Google Shape;238;p33"/>
          <p:cNvGraphicFramePr/>
          <p:nvPr/>
        </p:nvGraphicFramePr>
        <p:xfrm>
          <a:off x="1827075" y="934200"/>
          <a:ext cx="3000000" cy="3000000"/>
        </p:xfrm>
        <a:graphic>
          <a:graphicData uri="http://schemas.openxmlformats.org/drawingml/2006/table">
            <a:tbl>
              <a:tblPr>
                <a:noFill/>
                <a:tableStyleId>{89F7746B-9FF5-4B47-A26D-855030D7CD54}</a:tableStyleId>
              </a:tblPr>
              <a:tblGrid>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U1</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M3</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39" name="Google Shape;239;p33"/>
          <p:cNvGraphicFramePr/>
          <p:nvPr/>
        </p:nvGraphicFramePr>
        <p:xfrm>
          <a:off x="3808800" y="26996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7975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M3</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40" name="Google Shape;240;p33"/>
          <p:cNvGraphicFramePr/>
          <p:nvPr/>
        </p:nvGraphicFramePr>
        <p:xfrm>
          <a:off x="3808800" y="43760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a:t>
                      </a:r>
                      <a:r>
                        <a:rPr b="1" lang="en">
                          <a:latin typeface="Times New Roman"/>
                          <a:ea typeface="Times New Roman"/>
                          <a:cs typeface="Times New Roman"/>
                          <a:sym typeface="Times New Roman"/>
                        </a:rPr>
                        <a:t>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17</a:t>
                      </a:r>
                      <a:endParaRPr>
                        <a:latin typeface="Times New Roman"/>
                        <a:ea typeface="Times New Roman"/>
                        <a:cs typeface="Times New Roman"/>
                        <a:sym typeface="Times New Roman"/>
                      </a:endParaRPr>
                    </a:p>
                  </a:txBody>
                  <a:tcPr marT="91425" marB="91425" marR="91425" marL="91425"/>
                </a:tc>
              </a:tr>
            </a:tbl>
          </a:graphicData>
        </a:graphic>
      </p:graphicFrame>
      <p:sp>
        <p:nvSpPr>
          <p:cNvPr id="241" name="Google Shape;241;p33"/>
          <p:cNvSpPr txBox="1"/>
          <p:nvPr/>
        </p:nvSpPr>
        <p:spPr>
          <a:xfrm>
            <a:off x="1842750" y="4629175"/>
            <a:ext cx="17373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Times New Roman"/>
                <a:ea typeface="Times New Roman"/>
                <a:cs typeface="Times New Roman"/>
                <a:sym typeface="Times New Roman"/>
              </a:rPr>
              <a:t>User profile</a:t>
            </a:r>
            <a:endParaRPr sz="1800">
              <a:latin typeface="Times New Roman"/>
              <a:ea typeface="Times New Roman"/>
              <a:cs typeface="Times New Roman"/>
              <a:sym typeface="Times New Roman"/>
            </a:endParaRPr>
          </a:p>
        </p:txBody>
      </p:sp>
      <p:graphicFrame>
        <p:nvGraphicFramePr>
          <p:cNvPr id="242" name="Google Shape;242;p33"/>
          <p:cNvGraphicFramePr/>
          <p:nvPr/>
        </p:nvGraphicFramePr>
        <p:xfrm>
          <a:off x="3808800" y="9470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7975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r>
              <a:tr h="37975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M3</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r>
            </a:tbl>
          </a:graphicData>
        </a:graphic>
      </p:graphicFrame>
      <p:pic>
        <p:nvPicPr>
          <p:cNvPr id="243" name="Google Shape;243;p33"/>
          <p:cNvPicPr preferRelativeResize="0"/>
          <p:nvPr/>
        </p:nvPicPr>
        <p:blipFill>
          <a:blip r:embed="rId3">
            <a:alphaModFix/>
          </a:blip>
          <a:stretch>
            <a:fillRect/>
          </a:stretch>
        </p:blipFill>
        <p:spPr>
          <a:xfrm>
            <a:off x="559175" y="3159200"/>
            <a:ext cx="2481525" cy="961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49" name="Google Shape;249;p34"/>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Recommending Items to Users Based on Content</a:t>
            </a:r>
            <a:endParaRPr b="1"/>
          </a:p>
          <a:p>
            <a:pPr indent="0" lvl="0" marL="0" rtl="0" algn="l">
              <a:spcBef>
                <a:spcPts val="0"/>
              </a:spcBef>
              <a:spcAft>
                <a:spcPts val="0"/>
              </a:spcAft>
              <a:buNone/>
            </a:pPr>
            <a:r>
              <a:rPr lang="en"/>
              <a:t>Prediction heuristic: Cosine similarity of user and item profiles</a:t>
            </a:r>
            <a:endParaRPr/>
          </a:p>
          <a:p>
            <a:pPr indent="457200" lvl="0" marL="0" rtl="0" algn="l">
              <a:spcBef>
                <a:spcPts val="0"/>
              </a:spcBef>
              <a:spcAft>
                <a:spcPts val="0"/>
              </a:spcAft>
              <a:buNone/>
            </a:pPr>
            <a:r>
              <a:rPr lang="en"/>
              <a:t>Given user profile x and item profile i, estimate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0" name="Google Shape;25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51" name="Google Shape;251;p34"/>
          <p:cNvPicPr preferRelativeResize="0"/>
          <p:nvPr/>
        </p:nvPicPr>
        <p:blipFill>
          <a:blip r:embed="rId3">
            <a:alphaModFix/>
          </a:blip>
          <a:stretch>
            <a:fillRect/>
          </a:stretch>
        </p:blipFill>
        <p:spPr>
          <a:xfrm>
            <a:off x="1875710" y="2000250"/>
            <a:ext cx="3905240" cy="647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57" name="Google Shape;257;p35"/>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Recommending Items to Users Based on Content</a:t>
            </a:r>
            <a:endParaRPr b="1"/>
          </a:p>
          <a:p>
            <a:pPr indent="0" lvl="0" marL="0" rtl="0" algn="l">
              <a:spcBef>
                <a:spcPts val="0"/>
              </a:spcBef>
              <a:spcAft>
                <a:spcPts val="0"/>
              </a:spcAft>
              <a:buNone/>
            </a:pPr>
            <a:r>
              <a:rPr lang="en"/>
              <a:t>Prediction heuristic: Cosine similarity of user and item profiles</a:t>
            </a:r>
            <a:endParaRPr/>
          </a:p>
          <a:p>
            <a:pPr indent="0" lvl="0" marL="0" rtl="0" algn="l">
              <a:spcBef>
                <a:spcPts val="0"/>
              </a:spcBef>
              <a:spcAft>
                <a:spcPts val="0"/>
              </a:spcAft>
              <a:buNone/>
            </a:pPr>
            <a:r>
              <a:rPr lang="en"/>
              <a:t>▪ Given user profile x and item profile i, estimate</a:t>
            </a:r>
            <a:endParaRPr/>
          </a:p>
          <a:p>
            <a:pPr indent="0" lvl="0" marL="0" rtl="0" algn="l">
              <a:spcBef>
                <a:spcPts val="0"/>
              </a:spcBef>
              <a:spcAft>
                <a:spcPts val="0"/>
              </a:spcAft>
              <a:buNone/>
            </a:pPr>
            <a:r>
              <a:t/>
            </a:r>
            <a:endParaRPr/>
          </a:p>
        </p:txBody>
      </p:sp>
      <p:sp>
        <p:nvSpPr>
          <p:cNvPr id="258" name="Google Shape;25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259" name="Google Shape;259;p35"/>
          <p:cNvGraphicFramePr/>
          <p:nvPr/>
        </p:nvGraphicFramePr>
        <p:xfrm>
          <a:off x="396900" y="1962150"/>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M4</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M5</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60" name="Google Shape;260;p35"/>
          <p:cNvGraphicFramePr/>
          <p:nvPr/>
        </p:nvGraphicFramePr>
        <p:xfrm>
          <a:off x="387900" y="419142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a:t>
                      </a:r>
                      <a:r>
                        <a:rPr b="1" lang="en">
                          <a:latin typeface="Times New Roman"/>
                          <a:ea typeface="Times New Roman"/>
                          <a:cs typeface="Times New Roman"/>
                          <a:sym typeface="Times New Roman"/>
                        </a:rPr>
                        <a:t>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17</a:t>
                      </a:r>
                      <a:endParaRPr>
                        <a:latin typeface="Times New Roman"/>
                        <a:ea typeface="Times New Roman"/>
                        <a:cs typeface="Times New Roman"/>
                        <a:sym typeface="Times New Roman"/>
                      </a:endParaRPr>
                    </a:p>
                  </a:txBody>
                  <a:tcPr marT="91425" marB="91425" marR="91425" marL="91425"/>
                </a:tc>
              </a:tr>
            </a:tbl>
          </a:graphicData>
        </a:graphic>
      </p:graphicFrame>
      <p:graphicFrame>
        <p:nvGraphicFramePr>
          <p:cNvPr id="261" name="Google Shape;261;p35"/>
          <p:cNvGraphicFramePr/>
          <p:nvPr/>
        </p:nvGraphicFramePr>
        <p:xfrm>
          <a:off x="396900" y="3274075"/>
          <a:ext cx="3000000" cy="3000000"/>
        </p:xfrm>
        <a:graphic>
          <a:graphicData uri="http://schemas.openxmlformats.org/drawingml/2006/table">
            <a:tbl>
              <a:tblPr>
                <a:noFill/>
                <a:tableStyleId>{89F7746B-9FF5-4B47-A26D-855030D7CD54}</a:tableStyleId>
              </a:tblPr>
              <a:tblGrid>
                <a:gridCol w="868725"/>
                <a:gridCol w="868725"/>
                <a:gridCol w="868725"/>
                <a:gridCol w="868725"/>
                <a:gridCol w="868725"/>
                <a:gridCol w="868725"/>
              </a:tblGrid>
              <a:tr h="381000">
                <a:tc>
                  <a:txBody>
                    <a:bodyPr/>
                    <a:lstStyle/>
                    <a:p>
                      <a:pPr indent="0" lvl="0" marL="0" rtl="0" algn="l">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Fantasy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Action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Cartoon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Drama</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Comedy</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a:t>
                      </a:r>
                      <a:r>
                        <a:rPr b="1" lang="en">
                          <a:latin typeface="Times New Roman"/>
                          <a:ea typeface="Times New Roman"/>
                          <a:cs typeface="Times New Roman"/>
                          <a:sym typeface="Times New Roman"/>
                        </a:rPr>
                        <a:t>1</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0.26</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0.18</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0.11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0.45</a:t>
                      </a:r>
                      <a:endParaRPr>
                        <a:latin typeface="Times New Roman"/>
                        <a:ea typeface="Times New Roman"/>
                        <a:cs typeface="Times New Roman"/>
                        <a:sym typeface="Times New Roman"/>
                      </a:endParaRPr>
                    </a:p>
                  </a:txBody>
                  <a:tcPr marT="91425" marB="91425" marR="91425" marL="91425"/>
                </a:tc>
              </a:tr>
            </a:tbl>
          </a:graphicData>
        </a:graphic>
      </p:graphicFrame>
      <p:pic>
        <p:nvPicPr>
          <p:cNvPr id="262" name="Google Shape;262;p35"/>
          <p:cNvPicPr preferRelativeResize="0"/>
          <p:nvPr/>
        </p:nvPicPr>
        <p:blipFill>
          <a:blip r:embed="rId3">
            <a:alphaModFix/>
          </a:blip>
          <a:stretch>
            <a:fillRect/>
          </a:stretch>
        </p:blipFill>
        <p:spPr>
          <a:xfrm>
            <a:off x="5238760" y="1073375"/>
            <a:ext cx="3905240" cy="647700"/>
          </a:xfrm>
          <a:prstGeom prst="rect">
            <a:avLst/>
          </a:prstGeom>
          <a:noFill/>
          <a:ln>
            <a:noFill/>
          </a:ln>
        </p:spPr>
      </p:pic>
      <p:sp>
        <p:nvSpPr>
          <p:cNvPr id="263" name="Google Shape;263;p35"/>
          <p:cNvSpPr txBox="1"/>
          <p:nvPr/>
        </p:nvSpPr>
        <p:spPr>
          <a:xfrm>
            <a:off x="5899900" y="2623975"/>
            <a:ext cx="3723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(1*0.26 + 1*0.45)</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sqrt(1+1) * sqrt(0.26^2 + 0.18^2 + … )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69" name="Google Shape;269;p36"/>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Pros: Content-based Approach</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 No need for data on other users</a:t>
            </a:r>
            <a:endParaRPr/>
          </a:p>
          <a:p>
            <a:pPr indent="457200" lvl="0" marL="0" rtl="0" algn="l">
              <a:spcBef>
                <a:spcPts val="0"/>
              </a:spcBef>
              <a:spcAft>
                <a:spcPts val="0"/>
              </a:spcAft>
              <a:buNone/>
            </a:pPr>
            <a:r>
              <a:rPr lang="en"/>
              <a:t>No cold-start or sparsity problems</a:t>
            </a:r>
            <a:endParaRPr/>
          </a:p>
          <a:p>
            <a:pPr indent="0" lvl="0" marL="0" rtl="0" algn="l">
              <a:spcBef>
                <a:spcPts val="0"/>
              </a:spcBef>
              <a:spcAft>
                <a:spcPts val="0"/>
              </a:spcAft>
              <a:buNone/>
            </a:pPr>
            <a:r>
              <a:rPr lang="en"/>
              <a:t>+: Able to recommend to users with unique tastes</a:t>
            </a:r>
            <a:endParaRPr/>
          </a:p>
          <a:p>
            <a:pPr indent="0" lvl="0" marL="0" rtl="0" algn="l">
              <a:spcBef>
                <a:spcPts val="0"/>
              </a:spcBef>
              <a:spcAft>
                <a:spcPts val="0"/>
              </a:spcAft>
              <a:buNone/>
            </a:pPr>
            <a:r>
              <a:rPr lang="en"/>
              <a:t>+: Able to recommend new &amp; unpopular items</a:t>
            </a:r>
            <a:endParaRPr/>
          </a:p>
          <a:p>
            <a:pPr indent="457200" lvl="0" marL="0" rtl="0" algn="l">
              <a:spcBef>
                <a:spcPts val="0"/>
              </a:spcBef>
              <a:spcAft>
                <a:spcPts val="0"/>
              </a:spcAft>
              <a:buNone/>
            </a:pPr>
            <a:r>
              <a:rPr lang="en"/>
              <a:t>No first-rater problem</a:t>
            </a:r>
            <a:endParaRPr/>
          </a:p>
          <a:p>
            <a:pPr indent="0" lvl="0" marL="0" rtl="0" algn="l">
              <a:spcBef>
                <a:spcPts val="0"/>
              </a:spcBef>
              <a:spcAft>
                <a:spcPts val="0"/>
              </a:spcAft>
              <a:buNone/>
            </a:pPr>
            <a:r>
              <a:rPr lang="en"/>
              <a:t>+: Able to provide explanations</a:t>
            </a:r>
            <a:endParaRPr/>
          </a:p>
          <a:p>
            <a:pPr indent="457200" lvl="0" marL="0" rtl="0" algn="l">
              <a:spcBef>
                <a:spcPts val="0"/>
              </a:spcBef>
              <a:spcAft>
                <a:spcPts val="0"/>
              </a:spcAft>
              <a:buNone/>
            </a:pPr>
            <a:r>
              <a:rPr lang="en"/>
              <a:t>Can provide explanations of recommended items by listing content-features that caused an item to be recommended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0" name="Google Shape;27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Content-Based Recommendations</a:t>
            </a:r>
            <a:endParaRPr/>
          </a:p>
        </p:txBody>
      </p:sp>
      <p:sp>
        <p:nvSpPr>
          <p:cNvPr id="276" name="Google Shape;276;p37"/>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Cons</a:t>
            </a:r>
            <a:r>
              <a:rPr b="1" lang="en"/>
              <a:t>: Content-based Approach</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 Finding the appropriate features is hard</a:t>
            </a:r>
            <a:endParaRPr/>
          </a:p>
          <a:p>
            <a:pPr indent="0" lvl="0" marL="0" rtl="0" algn="l">
              <a:spcBef>
                <a:spcPts val="0"/>
              </a:spcBef>
              <a:spcAft>
                <a:spcPts val="0"/>
              </a:spcAft>
              <a:buNone/>
            </a:pPr>
            <a:r>
              <a:rPr lang="en"/>
              <a:t>E.g., images, movies, music</a:t>
            </a:r>
            <a:endParaRPr/>
          </a:p>
          <a:p>
            <a:pPr indent="0" lvl="0" marL="0" rtl="0" algn="l">
              <a:spcBef>
                <a:spcPts val="0"/>
              </a:spcBef>
              <a:spcAft>
                <a:spcPts val="0"/>
              </a:spcAft>
              <a:buNone/>
            </a:pPr>
            <a:r>
              <a:rPr lang="en"/>
              <a:t>–: Recommendations for new users</a:t>
            </a:r>
            <a:endParaRPr/>
          </a:p>
          <a:p>
            <a:pPr indent="0" lvl="0" marL="0" rtl="0" algn="l">
              <a:spcBef>
                <a:spcPts val="0"/>
              </a:spcBef>
              <a:spcAft>
                <a:spcPts val="0"/>
              </a:spcAft>
              <a:buNone/>
            </a:pPr>
            <a:r>
              <a:rPr lang="en"/>
              <a:t>How to build a user profile?</a:t>
            </a:r>
            <a:endParaRPr/>
          </a:p>
          <a:p>
            <a:pPr indent="0" lvl="0" marL="0" rtl="0" algn="l">
              <a:spcBef>
                <a:spcPts val="0"/>
              </a:spcBef>
              <a:spcAft>
                <a:spcPts val="0"/>
              </a:spcAft>
              <a:buNone/>
            </a:pPr>
            <a:r>
              <a:rPr lang="en"/>
              <a:t>–: Overspecialization</a:t>
            </a:r>
            <a:endParaRPr/>
          </a:p>
          <a:p>
            <a:pPr indent="0" lvl="0" marL="0" rtl="0" algn="l">
              <a:spcBef>
                <a:spcPts val="0"/>
              </a:spcBef>
              <a:spcAft>
                <a:spcPts val="0"/>
              </a:spcAft>
              <a:buNone/>
            </a:pPr>
            <a:r>
              <a:rPr lang="en"/>
              <a:t>Never recommends items outside user’s content profile</a:t>
            </a:r>
            <a:endParaRPr/>
          </a:p>
          <a:p>
            <a:pPr indent="0" lvl="0" marL="0" rtl="0" algn="l">
              <a:spcBef>
                <a:spcPts val="0"/>
              </a:spcBef>
              <a:spcAft>
                <a:spcPts val="0"/>
              </a:spcAft>
              <a:buNone/>
            </a:pPr>
            <a:r>
              <a:rPr lang="en"/>
              <a:t>People might have multiple interests</a:t>
            </a:r>
            <a:endParaRPr/>
          </a:p>
          <a:p>
            <a:pPr indent="0" lvl="0" marL="0" rtl="0" algn="l">
              <a:spcBef>
                <a:spcPts val="0"/>
              </a:spcBef>
              <a:spcAft>
                <a:spcPts val="0"/>
              </a:spcAft>
              <a:buNone/>
            </a:pPr>
            <a:r>
              <a:rPr lang="en"/>
              <a:t>Unable to exploit quality judgments of other users</a:t>
            </a:r>
            <a:endParaRPr/>
          </a:p>
        </p:txBody>
      </p:sp>
      <p:sp>
        <p:nvSpPr>
          <p:cNvPr id="277" name="Google Shape;27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type="title"/>
          </p:nvPr>
        </p:nvSpPr>
        <p:spPr>
          <a:xfrm>
            <a:off x="311700" y="21214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a:t>
            </a:r>
            <a:r>
              <a:rPr lang="en"/>
              <a:t>ollaborative filtering</a:t>
            </a:r>
            <a:endParaRPr/>
          </a:p>
        </p:txBody>
      </p:sp>
      <p:sp>
        <p:nvSpPr>
          <p:cNvPr id="283" name="Google Shape;283;p38"/>
          <p:cNvSpPr txBox="1"/>
          <p:nvPr>
            <p:ph idx="1" type="body"/>
          </p:nvPr>
        </p:nvSpPr>
        <p:spPr>
          <a:xfrm>
            <a:off x="311700" y="2917550"/>
            <a:ext cx="8520600" cy="165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84" name="Google Shape;28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Collaborative filtering</a:t>
            </a:r>
            <a:endParaRPr/>
          </a:p>
        </p:txBody>
      </p:sp>
      <p:sp>
        <p:nvSpPr>
          <p:cNvPr id="290" name="Google Shape;290;p39"/>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 similar users and recommend items that they like.</a:t>
            </a:r>
            <a:endParaRPr/>
          </a:p>
          <a:p>
            <a:pPr indent="0" lvl="0" marL="0" rtl="0" algn="l">
              <a:spcBef>
                <a:spcPts val="0"/>
              </a:spcBef>
              <a:spcAft>
                <a:spcPts val="0"/>
              </a:spcAft>
              <a:buNone/>
            </a:pPr>
            <a:r>
              <a:rPr lang="en"/>
              <a:t>Comes in two flavors:</a:t>
            </a:r>
            <a:endParaRPr/>
          </a:p>
          <a:p>
            <a:pPr indent="457200" lvl="0" marL="0" rtl="0" algn="l">
              <a:spcBef>
                <a:spcPts val="0"/>
              </a:spcBef>
              <a:spcAft>
                <a:spcPts val="0"/>
              </a:spcAft>
              <a:buNone/>
            </a:pPr>
            <a:r>
              <a:rPr lang="en"/>
              <a:t>User-user collaborative filtering </a:t>
            </a:r>
            <a:endParaRPr/>
          </a:p>
          <a:p>
            <a:pPr indent="457200" lvl="0" marL="0" rtl="0" algn="l">
              <a:spcBef>
                <a:spcPts val="0"/>
              </a:spcBef>
              <a:spcAft>
                <a:spcPts val="0"/>
              </a:spcAft>
              <a:buNone/>
            </a:pPr>
            <a:r>
              <a:rPr lang="en"/>
              <a:t>Item-Item collaborative filtering</a:t>
            </a:r>
            <a:endParaRPr/>
          </a:p>
          <a:p>
            <a:pPr indent="0" lvl="0" marL="0" rtl="0" algn="l">
              <a:spcBef>
                <a:spcPts val="0"/>
              </a:spcBef>
              <a:spcAft>
                <a:spcPts val="0"/>
              </a:spcAft>
              <a:buNone/>
            </a:pPr>
            <a:r>
              <a:t/>
            </a:r>
            <a:endParaRPr/>
          </a:p>
        </p:txBody>
      </p:sp>
      <p:sp>
        <p:nvSpPr>
          <p:cNvPr id="291" name="Google Shape;29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297" name="Google Shape;297;p40"/>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Consider user x</a:t>
            </a:r>
            <a:endParaRPr/>
          </a:p>
          <a:p>
            <a:pPr indent="-342900" lvl="0" marL="457200" rtl="0" algn="l">
              <a:spcBef>
                <a:spcPts val="0"/>
              </a:spcBef>
              <a:spcAft>
                <a:spcPts val="0"/>
              </a:spcAft>
              <a:buSzPts val="1800"/>
              <a:buChar char="●"/>
            </a:pPr>
            <a:r>
              <a:rPr lang="en"/>
              <a:t>Find set N of other users whose ratings </a:t>
            </a:r>
            <a:endParaRPr/>
          </a:p>
          <a:p>
            <a:pPr indent="0" lvl="0" marL="457200" rtl="0" algn="l">
              <a:spcBef>
                <a:spcPts val="0"/>
              </a:spcBef>
              <a:spcAft>
                <a:spcPts val="0"/>
              </a:spcAft>
              <a:buNone/>
            </a:pPr>
            <a:r>
              <a:rPr lang="en"/>
              <a:t>are “similar” to x’s ratings</a:t>
            </a:r>
            <a:endParaRPr/>
          </a:p>
          <a:p>
            <a:pPr indent="-342900" lvl="0" marL="457200" rtl="0" algn="l">
              <a:spcBef>
                <a:spcPts val="0"/>
              </a:spcBef>
              <a:spcAft>
                <a:spcPts val="0"/>
              </a:spcAft>
              <a:buSzPts val="1800"/>
              <a:buChar char="●"/>
            </a:pPr>
            <a:r>
              <a:rPr lang="en"/>
              <a:t>Estimate x’s ratings based on ratings </a:t>
            </a:r>
            <a:endParaRPr/>
          </a:p>
          <a:p>
            <a:pPr indent="0" lvl="0" marL="457200" rtl="0" algn="l">
              <a:spcBef>
                <a:spcPts val="0"/>
              </a:spcBef>
              <a:spcAft>
                <a:spcPts val="0"/>
              </a:spcAft>
              <a:buNone/>
            </a:pPr>
            <a:r>
              <a:rPr lang="en"/>
              <a:t>of users in 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298" name="Google Shape;29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descr="Figure" id="299" name="Google Shape;299;p40"/>
          <p:cNvPicPr preferRelativeResize="0"/>
          <p:nvPr/>
        </p:nvPicPr>
        <p:blipFill rotWithShape="1">
          <a:blip r:embed="rId3">
            <a:alphaModFix/>
          </a:blip>
          <a:srcRect b="0" l="0" r="0" t="0"/>
          <a:stretch/>
        </p:blipFill>
        <p:spPr>
          <a:xfrm>
            <a:off x="4540160" y="752474"/>
            <a:ext cx="4603840" cy="42767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05" name="Google Shape;305;p41"/>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“Similar” Users</a:t>
            </a:r>
            <a:endParaRPr/>
          </a:p>
          <a:p>
            <a:pPr indent="457200" lvl="0" marL="0" rtl="0" algn="l">
              <a:spcBef>
                <a:spcPts val="0"/>
              </a:spcBef>
              <a:spcAft>
                <a:spcPts val="0"/>
              </a:spcAft>
              <a:buNone/>
            </a:pPr>
            <a:r>
              <a:rPr lang="en"/>
              <a:t>Represent users by their rows in the utility matrix</a:t>
            </a:r>
            <a:endParaRPr/>
          </a:p>
          <a:p>
            <a:pPr indent="457200" lvl="0" marL="0" rtl="0" algn="l">
              <a:spcBef>
                <a:spcPts val="0"/>
              </a:spcBef>
              <a:spcAft>
                <a:spcPts val="0"/>
              </a:spcAft>
              <a:buNone/>
            </a:pPr>
            <a:r>
              <a:rPr lang="en"/>
              <a:t>Two users are similar if their vectors are similar</a:t>
            </a:r>
            <a:endParaRPr/>
          </a:p>
          <a:p>
            <a:pPr indent="457200" lvl="0" marL="0" rtl="0" algn="l">
              <a:spcBef>
                <a:spcPts val="0"/>
              </a:spcBef>
              <a:spcAft>
                <a:spcPts val="0"/>
              </a:spcAft>
              <a:buNone/>
            </a:pPr>
            <a:r>
              <a:t/>
            </a:r>
            <a:endParaRPr/>
          </a:p>
          <a:p>
            <a:pPr indent="0" lvl="0" marL="0" rtl="0" algn="l">
              <a:spcBef>
                <a:spcPts val="0"/>
              </a:spcBef>
              <a:spcAft>
                <a:spcPts val="0"/>
              </a:spcAft>
              <a:buNone/>
            </a:pPr>
            <a:r>
              <a:rPr lang="en"/>
              <a:t>Similarity Metric</a:t>
            </a:r>
            <a:endParaRPr/>
          </a:p>
          <a:p>
            <a:pPr indent="457200" lvl="0" marL="0" rtl="0" algn="l">
              <a:spcBef>
                <a:spcPts val="0"/>
              </a:spcBef>
              <a:spcAft>
                <a:spcPts val="0"/>
              </a:spcAft>
              <a:buNone/>
            </a:pPr>
            <a:r>
              <a:rPr lang="en"/>
              <a:t>Jaccard similarity measure</a:t>
            </a:r>
            <a:endParaRPr/>
          </a:p>
          <a:p>
            <a:pPr indent="0" lvl="0" marL="457200" rtl="0" algn="l">
              <a:spcBef>
                <a:spcPts val="0"/>
              </a:spcBef>
              <a:spcAft>
                <a:spcPts val="0"/>
              </a:spcAft>
              <a:buNone/>
            </a:pPr>
            <a:r>
              <a:rPr lang="en"/>
              <a:t>Cosine similarity measure</a:t>
            </a:r>
            <a:endParaRPr/>
          </a:p>
          <a:p>
            <a:pPr indent="0" lvl="0" marL="457200" rtl="0" algn="l">
              <a:spcBef>
                <a:spcPts val="0"/>
              </a:spcBef>
              <a:spcAft>
                <a:spcPts val="0"/>
              </a:spcAft>
              <a:buNone/>
            </a:pPr>
            <a:r>
              <a:rPr lang="en"/>
              <a:t>Pearson correlation coefficient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6" name="Google Shape;30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2"/>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12" name="Google Shape;312;p42"/>
          <p:cNvSpPr txBox="1"/>
          <p:nvPr>
            <p:ph idx="1" type="body"/>
          </p:nvPr>
        </p:nvSpPr>
        <p:spPr>
          <a:xfrm>
            <a:off x="311700" y="923875"/>
            <a:ext cx="5725800" cy="40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 r</a:t>
            </a:r>
            <a:r>
              <a:rPr baseline="-25000" lang="en"/>
              <a:t>x</a:t>
            </a:r>
            <a:r>
              <a:rPr lang="en"/>
              <a:t> be the vector of user x’s ratings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Similarity Metric</a:t>
            </a:r>
            <a:endParaRPr/>
          </a:p>
          <a:p>
            <a:pPr indent="457200" lvl="0" marL="0" rtl="0" algn="l">
              <a:spcBef>
                <a:spcPts val="0"/>
              </a:spcBef>
              <a:spcAft>
                <a:spcPts val="0"/>
              </a:spcAft>
              <a:buNone/>
            </a:pPr>
            <a:r>
              <a:rPr lang="en"/>
              <a:t>Jaccard similarity measure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Problem: Ignores the value of the rating</a:t>
            </a:r>
            <a:endParaRPr/>
          </a:p>
        </p:txBody>
      </p:sp>
      <p:sp>
        <p:nvSpPr>
          <p:cNvPr id="313" name="Google Shape;31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14" name="Google Shape;314;p42"/>
          <p:cNvSpPr txBox="1"/>
          <p:nvPr/>
        </p:nvSpPr>
        <p:spPr>
          <a:xfrm>
            <a:off x="5014525" y="872925"/>
            <a:ext cx="3981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800">
              <a:solidFill>
                <a:srgbClr val="008000"/>
              </a:solidFill>
            </a:endParaRPr>
          </a:p>
        </p:txBody>
      </p:sp>
      <p:pic>
        <p:nvPicPr>
          <p:cNvPr id="315" name="Google Shape;315;p42"/>
          <p:cNvPicPr preferRelativeResize="0"/>
          <p:nvPr/>
        </p:nvPicPr>
        <p:blipFill>
          <a:blip r:embed="rId3">
            <a:alphaModFix/>
          </a:blip>
          <a:stretch>
            <a:fillRect/>
          </a:stretch>
        </p:blipFill>
        <p:spPr>
          <a:xfrm>
            <a:off x="1295047" y="2571750"/>
            <a:ext cx="1934609" cy="572700"/>
          </a:xfrm>
          <a:prstGeom prst="rect">
            <a:avLst/>
          </a:prstGeom>
          <a:noFill/>
          <a:ln>
            <a:noFill/>
          </a:ln>
        </p:spPr>
      </p:pic>
      <p:sp>
        <p:nvSpPr>
          <p:cNvPr id="316" name="Google Shape;316;p42"/>
          <p:cNvSpPr txBox="1"/>
          <p:nvPr>
            <p:ph idx="2" type="body"/>
          </p:nvPr>
        </p:nvSpPr>
        <p:spPr>
          <a:xfrm>
            <a:off x="4959900" y="923875"/>
            <a:ext cx="4184100" cy="408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i="1" lang="en">
                <a:solidFill>
                  <a:srgbClr val="008000"/>
                </a:solidFill>
                <a:latin typeface="Arial"/>
                <a:ea typeface="Arial"/>
                <a:cs typeface="Arial"/>
                <a:sym typeface="Arial"/>
              </a:rPr>
              <a:t>r</a:t>
            </a:r>
            <a:r>
              <a:rPr b="1" i="1" lang="en" sz="1000">
                <a:solidFill>
                  <a:srgbClr val="008000"/>
                </a:solidFill>
                <a:latin typeface="Arial"/>
                <a:ea typeface="Arial"/>
                <a:cs typeface="Arial"/>
                <a:sym typeface="Arial"/>
              </a:rPr>
              <a:t>x </a:t>
            </a:r>
            <a:r>
              <a:rPr lang="en">
                <a:solidFill>
                  <a:srgbClr val="008000"/>
                </a:solidFill>
                <a:latin typeface="Arial"/>
                <a:ea typeface="Arial"/>
                <a:cs typeface="Arial"/>
                <a:sym typeface="Arial"/>
              </a:rPr>
              <a:t>=[1,_,_,1,3] </a:t>
            </a:r>
            <a:br>
              <a:rPr lang="en">
                <a:solidFill>
                  <a:srgbClr val="008000"/>
                </a:solidFill>
                <a:latin typeface="Arial"/>
                <a:ea typeface="Arial"/>
                <a:cs typeface="Arial"/>
                <a:sym typeface="Arial"/>
              </a:rPr>
            </a:br>
            <a:r>
              <a:rPr b="1" i="1" lang="en">
                <a:solidFill>
                  <a:srgbClr val="008000"/>
                </a:solidFill>
                <a:latin typeface="Arial"/>
                <a:ea typeface="Arial"/>
                <a:cs typeface="Arial"/>
                <a:sym typeface="Arial"/>
              </a:rPr>
              <a:t>r</a:t>
            </a:r>
            <a:r>
              <a:rPr b="1" i="1" lang="en" sz="1000">
                <a:solidFill>
                  <a:srgbClr val="008000"/>
                </a:solidFill>
                <a:latin typeface="Arial"/>
                <a:ea typeface="Arial"/>
                <a:cs typeface="Arial"/>
                <a:sym typeface="Arial"/>
              </a:rPr>
              <a:t>y </a:t>
            </a:r>
            <a:r>
              <a:rPr lang="en">
                <a:solidFill>
                  <a:srgbClr val="008000"/>
                </a:solidFill>
                <a:latin typeface="Arial"/>
                <a:ea typeface="Arial"/>
                <a:cs typeface="Arial"/>
                <a:sym typeface="Arial"/>
              </a:rPr>
              <a:t>=[1,_,2,2,_] </a:t>
            </a:r>
            <a:endParaRPr>
              <a:solidFill>
                <a:srgbClr val="008000"/>
              </a:solidFill>
              <a:latin typeface="Arial"/>
              <a:ea typeface="Arial"/>
              <a:cs typeface="Arial"/>
              <a:sym typeface="Arial"/>
            </a:endParaRPr>
          </a:p>
          <a:p>
            <a:pPr indent="0" lvl="0" marL="0" rtl="0" algn="l">
              <a:spcBef>
                <a:spcPts val="1200"/>
              </a:spcBef>
              <a:spcAft>
                <a:spcPts val="0"/>
              </a:spcAft>
              <a:buNone/>
            </a:pPr>
            <a:r>
              <a:t/>
            </a:r>
            <a:endParaRPr>
              <a:solidFill>
                <a:srgbClr val="008000"/>
              </a:solidFill>
              <a:latin typeface="Arial"/>
              <a:ea typeface="Arial"/>
              <a:cs typeface="Arial"/>
              <a:sym typeface="Arial"/>
            </a:endParaRPr>
          </a:p>
          <a:p>
            <a:pPr indent="0" lvl="0" marL="0" rtl="0" algn="l">
              <a:spcBef>
                <a:spcPts val="1200"/>
              </a:spcBef>
              <a:spcAft>
                <a:spcPts val="0"/>
              </a:spcAft>
              <a:buNone/>
            </a:pPr>
            <a:r>
              <a:rPr b="1" i="1" lang="en" sz="1600">
                <a:solidFill>
                  <a:srgbClr val="008000"/>
                </a:solidFill>
                <a:highlight>
                  <a:schemeClr val="lt1"/>
                </a:highlight>
                <a:latin typeface="Arial"/>
                <a:ea typeface="Arial"/>
                <a:cs typeface="Arial"/>
                <a:sym typeface="Arial"/>
              </a:rPr>
              <a:t>r</a:t>
            </a:r>
            <a:r>
              <a:rPr b="1" i="1" lang="en" sz="1100">
                <a:solidFill>
                  <a:srgbClr val="008000"/>
                </a:solidFill>
                <a:highlight>
                  <a:schemeClr val="lt1"/>
                </a:highlight>
                <a:latin typeface="Arial"/>
                <a:ea typeface="Arial"/>
                <a:cs typeface="Arial"/>
                <a:sym typeface="Arial"/>
              </a:rPr>
              <a:t>x</a:t>
            </a:r>
            <a:r>
              <a:rPr b="1" i="1" lang="en" sz="1600">
                <a:solidFill>
                  <a:srgbClr val="008000"/>
                </a:solidFill>
                <a:highlight>
                  <a:schemeClr val="lt1"/>
                </a:highlight>
                <a:latin typeface="Arial"/>
                <a:ea typeface="Arial"/>
                <a:cs typeface="Arial"/>
                <a:sym typeface="Arial"/>
              </a:rPr>
              <a:t>, r</a:t>
            </a:r>
            <a:r>
              <a:rPr b="1" i="1" lang="en" sz="1100">
                <a:solidFill>
                  <a:srgbClr val="008000"/>
                </a:solidFill>
                <a:highlight>
                  <a:schemeClr val="lt1"/>
                </a:highlight>
                <a:latin typeface="Arial"/>
                <a:ea typeface="Arial"/>
                <a:cs typeface="Arial"/>
                <a:sym typeface="Arial"/>
              </a:rPr>
              <a:t>y </a:t>
            </a:r>
            <a:r>
              <a:rPr b="1" i="1" lang="en" sz="1600">
                <a:solidFill>
                  <a:srgbClr val="008000"/>
                </a:solidFill>
                <a:highlight>
                  <a:schemeClr val="lt1"/>
                </a:highlight>
                <a:latin typeface="Arial"/>
                <a:ea typeface="Arial"/>
                <a:cs typeface="Arial"/>
                <a:sym typeface="Arial"/>
              </a:rPr>
              <a:t>as sets: </a:t>
            </a:r>
            <a:br>
              <a:rPr b="1" i="1" lang="en" sz="1600">
                <a:solidFill>
                  <a:srgbClr val="008000"/>
                </a:solidFill>
                <a:highlight>
                  <a:schemeClr val="lt1"/>
                </a:highlight>
                <a:latin typeface="Arial"/>
                <a:ea typeface="Arial"/>
                <a:cs typeface="Arial"/>
                <a:sym typeface="Arial"/>
              </a:rPr>
            </a:br>
            <a:r>
              <a:rPr b="1" i="1" lang="en" sz="1600">
                <a:solidFill>
                  <a:srgbClr val="008000"/>
                </a:solidFill>
                <a:highlight>
                  <a:schemeClr val="lt1"/>
                </a:highlight>
                <a:latin typeface="Arial"/>
                <a:ea typeface="Arial"/>
                <a:cs typeface="Arial"/>
                <a:sym typeface="Arial"/>
              </a:rPr>
              <a:t>r</a:t>
            </a:r>
            <a:r>
              <a:rPr b="1" i="1" lang="en" sz="1100">
                <a:solidFill>
                  <a:srgbClr val="008000"/>
                </a:solidFill>
                <a:highlight>
                  <a:schemeClr val="lt1"/>
                </a:highlight>
                <a:latin typeface="Arial"/>
                <a:ea typeface="Arial"/>
                <a:cs typeface="Arial"/>
                <a:sym typeface="Arial"/>
              </a:rPr>
              <a:t>x </a:t>
            </a:r>
            <a:r>
              <a:rPr lang="en" sz="1600">
                <a:solidFill>
                  <a:srgbClr val="008000"/>
                </a:solidFill>
                <a:highlight>
                  <a:schemeClr val="lt1"/>
                </a:highlight>
                <a:latin typeface="Arial"/>
                <a:ea typeface="Arial"/>
                <a:cs typeface="Arial"/>
                <a:sym typeface="Arial"/>
              </a:rPr>
              <a:t>= {1, 4, 5} </a:t>
            </a:r>
            <a:br>
              <a:rPr lang="en" sz="1600">
                <a:solidFill>
                  <a:srgbClr val="008000"/>
                </a:solidFill>
                <a:highlight>
                  <a:schemeClr val="lt1"/>
                </a:highlight>
                <a:latin typeface="Arial"/>
                <a:ea typeface="Arial"/>
                <a:cs typeface="Arial"/>
                <a:sym typeface="Arial"/>
              </a:rPr>
            </a:br>
            <a:r>
              <a:rPr b="1" i="1" lang="en" sz="1600">
                <a:solidFill>
                  <a:srgbClr val="008000"/>
                </a:solidFill>
                <a:highlight>
                  <a:schemeClr val="lt1"/>
                </a:highlight>
                <a:latin typeface="Arial"/>
                <a:ea typeface="Arial"/>
                <a:cs typeface="Arial"/>
                <a:sym typeface="Arial"/>
              </a:rPr>
              <a:t>r</a:t>
            </a:r>
            <a:r>
              <a:rPr b="1" i="1" lang="en" sz="1100">
                <a:solidFill>
                  <a:srgbClr val="008000"/>
                </a:solidFill>
                <a:highlight>
                  <a:schemeClr val="lt1"/>
                </a:highlight>
                <a:latin typeface="Arial"/>
                <a:ea typeface="Arial"/>
                <a:cs typeface="Arial"/>
                <a:sym typeface="Arial"/>
              </a:rPr>
              <a:t>y </a:t>
            </a:r>
            <a:r>
              <a:rPr lang="en" sz="1600">
                <a:solidFill>
                  <a:srgbClr val="008000"/>
                </a:solidFill>
                <a:highlight>
                  <a:schemeClr val="lt1"/>
                </a:highlight>
                <a:latin typeface="Arial"/>
                <a:ea typeface="Arial"/>
                <a:cs typeface="Arial"/>
                <a:sym typeface="Arial"/>
              </a:rPr>
              <a:t>= {1, 3, 4} </a:t>
            </a:r>
            <a:endParaRPr>
              <a:solidFill>
                <a:srgbClr val="008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3"/>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22" name="Google Shape;322;p43"/>
          <p:cNvSpPr txBox="1"/>
          <p:nvPr>
            <p:ph idx="1" type="body"/>
          </p:nvPr>
        </p:nvSpPr>
        <p:spPr>
          <a:xfrm>
            <a:off x="311700" y="923875"/>
            <a:ext cx="6927300" cy="40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 r</a:t>
            </a:r>
            <a:r>
              <a:rPr baseline="-25000" lang="en"/>
              <a:t>x</a:t>
            </a:r>
            <a:r>
              <a:rPr lang="en"/>
              <a:t> be the vector of user x’s ratings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Similarity Metric</a:t>
            </a:r>
            <a:endParaRPr/>
          </a:p>
          <a:p>
            <a:pPr indent="457200" lvl="0" marL="0" rtl="0" algn="l">
              <a:spcBef>
                <a:spcPts val="0"/>
              </a:spcBef>
              <a:spcAft>
                <a:spcPts val="0"/>
              </a:spcAft>
              <a:buNone/>
            </a:pPr>
            <a:r>
              <a:rPr lang="en"/>
              <a:t>Cosine similarity measure</a:t>
            </a:r>
            <a:r>
              <a:rPr lang="en"/>
              <a:t>	</a:t>
            </a:r>
            <a:endParaRPr/>
          </a:p>
          <a:p>
            <a:pPr indent="457200" lvl="0" marL="0" rtl="0" algn="l">
              <a:spcBef>
                <a:spcPts val="0"/>
              </a:spcBef>
              <a:spcAft>
                <a:spcPts val="0"/>
              </a:spcAft>
              <a:buNone/>
            </a:pPr>
            <a:r>
              <a:t/>
            </a:r>
            <a:endParaRPr/>
          </a:p>
          <a:p>
            <a:pPr indent="457200" lvl="0" marL="0" rtl="0" algn="l">
              <a:spcBef>
                <a:spcPts val="0"/>
              </a:spcBef>
              <a:spcAft>
                <a:spcPts val="0"/>
              </a:spcAft>
              <a:buNone/>
            </a:pPr>
            <a:r>
              <a:t/>
            </a:r>
            <a:endParaRPr/>
          </a:p>
          <a:p>
            <a:pPr indent="457200" lvl="0" marL="0" rtl="0" algn="l">
              <a:spcBef>
                <a:spcPts val="0"/>
              </a:spcBef>
              <a:spcAft>
                <a:spcPts val="0"/>
              </a:spcAft>
              <a:buNone/>
            </a:pPr>
            <a:r>
              <a:rPr lang="en"/>
              <a:t>Problem: This representation leads to unintuitive results. </a:t>
            </a:r>
            <a:endParaRPr/>
          </a:p>
          <a:p>
            <a:pPr indent="45720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3" name="Google Shape;32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24" name="Google Shape;324;p43"/>
          <p:cNvSpPr txBox="1"/>
          <p:nvPr/>
        </p:nvSpPr>
        <p:spPr>
          <a:xfrm>
            <a:off x="5014525" y="872925"/>
            <a:ext cx="3981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800">
              <a:solidFill>
                <a:srgbClr val="008000"/>
              </a:solidFill>
            </a:endParaRPr>
          </a:p>
        </p:txBody>
      </p:sp>
      <p:sp>
        <p:nvSpPr>
          <p:cNvPr id="325" name="Google Shape;325;p43"/>
          <p:cNvSpPr txBox="1"/>
          <p:nvPr>
            <p:ph idx="2" type="body"/>
          </p:nvPr>
        </p:nvSpPr>
        <p:spPr>
          <a:xfrm>
            <a:off x="6169275" y="923875"/>
            <a:ext cx="2974800" cy="408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i="1" lang="en">
                <a:solidFill>
                  <a:srgbClr val="008000"/>
                </a:solidFill>
                <a:latin typeface="Arial"/>
                <a:ea typeface="Arial"/>
                <a:cs typeface="Arial"/>
                <a:sym typeface="Arial"/>
              </a:rPr>
              <a:t>r</a:t>
            </a:r>
            <a:r>
              <a:rPr b="1" i="1" lang="en" sz="1000">
                <a:solidFill>
                  <a:srgbClr val="008000"/>
                </a:solidFill>
                <a:latin typeface="Arial"/>
                <a:ea typeface="Arial"/>
                <a:cs typeface="Arial"/>
                <a:sym typeface="Arial"/>
              </a:rPr>
              <a:t>x </a:t>
            </a:r>
            <a:r>
              <a:rPr lang="en">
                <a:solidFill>
                  <a:srgbClr val="008000"/>
                </a:solidFill>
                <a:latin typeface="Arial"/>
                <a:ea typeface="Arial"/>
                <a:cs typeface="Arial"/>
                <a:sym typeface="Arial"/>
              </a:rPr>
              <a:t>=[1,_,_,1,3] </a:t>
            </a:r>
            <a:br>
              <a:rPr lang="en">
                <a:solidFill>
                  <a:srgbClr val="008000"/>
                </a:solidFill>
                <a:latin typeface="Arial"/>
                <a:ea typeface="Arial"/>
                <a:cs typeface="Arial"/>
                <a:sym typeface="Arial"/>
              </a:rPr>
            </a:br>
            <a:r>
              <a:rPr b="1" i="1" lang="en">
                <a:solidFill>
                  <a:srgbClr val="008000"/>
                </a:solidFill>
                <a:latin typeface="Arial"/>
                <a:ea typeface="Arial"/>
                <a:cs typeface="Arial"/>
                <a:sym typeface="Arial"/>
              </a:rPr>
              <a:t>r</a:t>
            </a:r>
            <a:r>
              <a:rPr b="1" i="1" lang="en" sz="1000">
                <a:solidFill>
                  <a:srgbClr val="008000"/>
                </a:solidFill>
                <a:latin typeface="Arial"/>
                <a:ea typeface="Arial"/>
                <a:cs typeface="Arial"/>
                <a:sym typeface="Arial"/>
              </a:rPr>
              <a:t>y </a:t>
            </a:r>
            <a:r>
              <a:rPr lang="en">
                <a:solidFill>
                  <a:srgbClr val="008000"/>
                </a:solidFill>
                <a:latin typeface="Arial"/>
                <a:ea typeface="Arial"/>
                <a:cs typeface="Arial"/>
                <a:sym typeface="Arial"/>
              </a:rPr>
              <a:t>=[1,_,2,2,_] </a:t>
            </a:r>
            <a:endParaRPr>
              <a:solidFill>
                <a:srgbClr val="008000"/>
              </a:solidFill>
              <a:latin typeface="Arial"/>
              <a:ea typeface="Arial"/>
              <a:cs typeface="Arial"/>
              <a:sym typeface="Arial"/>
            </a:endParaRPr>
          </a:p>
          <a:p>
            <a:pPr indent="0" lvl="0" marL="0" rtl="0" algn="l">
              <a:spcBef>
                <a:spcPts val="1200"/>
              </a:spcBef>
              <a:spcAft>
                <a:spcPts val="0"/>
              </a:spcAft>
              <a:buNone/>
            </a:pPr>
            <a:r>
              <a:t/>
            </a:r>
            <a:endParaRPr>
              <a:solidFill>
                <a:srgbClr val="008000"/>
              </a:solidFill>
              <a:latin typeface="Arial"/>
              <a:ea typeface="Arial"/>
              <a:cs typeface="Arial"/>
              <a:sym typeface="Arial"/>
            </a:endParaRPr>
          </a:p>
          <a:p>
            <a:pPr indent="0" lvl="0" marL="0" rtl="0" algn="l">
              <a:lnSpc>
                <a:spcPct val="100000"/>
              </a:lnSpc>
              <a:spcBef>
                <a:spcPts val="1200"/>
              </a:spcBef>
              <a:spcAft>
                <a:spcPts val="0"/>
              </a:spcAft>
              <a:buClr>
                <a:srgbClr val="000000"/>
              </a:buClr>
              <a:buFont typeface="Arial"/>
              <a:buNone/>
            </a:pPr>
            <a:r>
              <a:rPr b="1" i="1" lang="en" sz="1600">
                <a:solidFill>
                  <a:srgbClr val="008000"/>
                </a:solidFill>
                <a:latin typeface="Arial"/>
                <a:ea typeface="Arial"/>
                <a:cs typeface="Arial"/>
                <a:sym typeface="Arial"/>
              </a:rPr>
              <a:t>r</a:t>
            </a:r>
            <a:r>
              <a:rPr b="1" baseline="-25000" i="1" lang="en" sz="1600">
                <a:solidFill>
                  <a:srgbClr val="008000"/>
                </a:solidFill>
                <a:latin typeface="Arial"/>
                <a:ea typeface="Arial"/>
                <a:cs typeface="Arial"/>
                <a:sym typeface="Arial"/>
              </a:rPr>
              <a:t>x</a:t>
            </a:r>
            <a:r>
              <a:rPr b="1" i="1" lang="en" sz="1600">
                <a:solidFill>
                  <a:srgbClr val="008000"/>
                </a:solidFill>
                <a:latin typeface="Arial"/>
                <a:ea typeface="Arial"/>
                <a:cs typeface="Arial"/>
                <a:sym typeface="Arial"/>
              </a:rPr>
              <a:t>, r</a:t>
            </a:r>
            <a:r>
              <a:rPr b="1" baseline="-25000" i="1" lang="en" sz="1600">
                <a:solidFill>
                  <a:srgbClr val="008000"/>
                </a:solidFill>
                <a:latin typeface="Arial"/>
                <a:ea typeface="Arial"/>
                <a:cs typeface="Arial"/>
                <a:sym typeface="Arial"/>
              </a:rPr>
              <a:t>y</a:t>
            </a:r>
            <a:r>
              <a:rPr b="1" i="1" lang="en" sz="1600">
                <a:solidFill>
                  <a:srgbClr val="008000"/>
                </a:solidFill>
                <a:latin typeface="Arial"/>
                <a:ea typeface="Arial"/>
                <a:cs typeface="Arial"/>
                <a:sym typeface="Arial"/>
              </a:rPr>
              <a:t> as points:</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b="1" i="1" lang="en" sz="1600">
                <a:solidFill>
                  <a:srgbClr val="008000"/>
                </a:solidFill>
                <a:latin typeface="Arial"/>
                <a:ea typeface="Arial"/>
                <a:cs typeface="Arial"/>
                <a:sym typeface="Arial"/>
              </a:rPr>
              <a:t>r</a:t>
            </a:r>
            <a:r>
              <a:rPr b="1" baseline="-25000" i="1" lang="en" sz="1600">
                <a:solidFill>
                  <a:srgbClr val="008000"/>
                </a:solidFill>
                <a:latin typeface="Arial"/>
                <a:ea typeface="Arial"/>
                <a:cs typeface="Arial"/>
                <a:sym typeface="Arial"/>
              </a:rPr>
              <a:t>x</a:t>
            </a:r>
            <a:r>
              <a:rPr lang="en" sz="1600">
                <a:solidFill>
                  <a:srgbClr val="008000"/>
                </a:solidFill>
                <a:latin typeface="Arial"/>
                <a:ea typeface="Arial"/>
                <a:cs typeface="Arial"/>
                <a:sym typeface="Arial"/>
              </a:rPr>
              <a:t> = {1, 0, 0, 1, 3}</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b="1" i="1" lang="en" sz="1600">
                <a:solidFill>
                  <a:srgbClr val="008000"/>
                </a:solidFill>
                <a:latin typeface="Arial"/>
                <a:ea typeface="Arial"/>
                <a:cs typeface="Arial"/>
                <a:sym typeface="Arial"/>
              </a:rPr>
              <a:t>r</a:t>
            </a:r>
            <a:r>
              <a:rPr b="1" baseline="-25000" i="1" lang="en" sz="1600">
                <a:solidFill>
                  <a:srgbClr val="008000"/>
                </a:solidFill>
                <a:latin typeface="Arial"/>
                <a:ea typeface="Arial"/>
                <a:cs typeface="Arial"/>
                <a:sym typeface="Arial"/>
              </a:rPr>
              <a:t>y</a:t>
            </a:r>
            <a:r>
              <a:rPr lang="en" sz="1600">
                <a:solidFill>
                  <a:srgbClr val="008000"/>
                </a:solidFill>
                <a:latin typeface="Arial"/>
                <a:ea typeface="Arial"/>
                <a:cs typeface="Arial"/>
                <a:sym typeface="Arial"/>
              </a:rPr>
              <a:t> = {1, 0, 2, 2, 0}</a:t>
            </a:r>
            <a:endParaRPr sz="1400">
              <a:solidFill>
                <a:srgbClr val="000000"/>
              </a:solidFill>
              <a:latin typeface="Arial"/>
              <a:ea typeface="Arial"/>
              <a:cs typeface="Arial"/>
              <a:sym typeface="Arial"/>
            </a:endParaRPr>
          </a:p>
          <a:p>
            <a:pPr indent="0" lvl="0" marL="0" rtl="0" algn="l">
              <a:spcBef>
                <a:spcPts val="1200"/>
              </a:spcBef>
              <a:spcAft>
                <a:spcPts val="0"/>
              </a:spcAft>
              <a:buNone/>
            </a:pPr>
            <a:r>
              <a:t/>
            </a:r>
            <a:endParaRPr b="1" i="1" sz="1600">
              <a:solidFill>
                <a:srgbClr val="008000"/>
              </a:solidFill>
              <a:highlight>
                <a:schemeClr val="lt1"/>
              </a:highlight>
              <a:latin typeface="Arial"/>
              <a:ea typeface="Arial"/>
              <a:cs typeface="Arial"/>
              <a:sym typeface="Arial"/>
            </a:endParaRPr>
          </a:p>
          <a:p>
            <a:pPr indent="0" lvl="0" marL="0" rtl="0" algn="l">
              <a:spcBef>
                <a:spcPts val="1200"/>
              </a:spcBef>
              <a:spcAft>
                <a:spcPts val="0"/>
              </a:spcAft>
              <a:buNone/>
            </a:pPr>
            <a:r>
              <a:t/>
            </a:r>
            <a:endParaRPr/>
          </a:p>
        </p:txBody>
      </p:sp>
      <p:pic>
        <p:nvPicPr>
          <p:cNvPr id="326" name="Google Shape;326;p43"/>
          <p:cNvPicPr preferRelativeResize="0"/>
          <p:nvPr/>
        </p:nvPicPr>
        <p:blipFill>
          <a:blip r:embed="rId3">
            <a:alphaModFix/>
          </a:blip>
          <a:stretch>
            <a:fillRect/>
          </a:stretch>
        </p:blipFill>
        <p:spPr>
          <a:xfrm>
            <a:off x="914400" y="2592275"/>
            <a:ext cx="4086225" cy="647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4"/>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32" name="Google Shape;33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pic>
        <p:nvPicPr>
          <p:cNvPr id="333" name="Google Shape;333;p44"/>
          <p:cNvPicPr preferRelativeResize="0"/>
          <p:nvPr/>
        </p:nvPicPr>
        <p:blipFill rotWithShape="1">
          <a:blip r:embed="rId3">
            <a:alphaModFix/>
          </a:blip>
          <a:srcRect b="0" l="0" r="0" t="0"/>
          <a:stretch/>
        </p:blipFill>
        <p:spPr>
          <a:xfrm>
            <a:off x="311700" y="895350"/>
            <a:ext cx="5637749" cy="1505600"/>
          </a:xfrm>
          <a:prstGeom prst="rect">
            <a:avLst/>
          </a:prstGeom>
          <a:noFill/>
          <a:ln>
            <a:noFill/>
          </a:ln>
        </p:spPr>
      </p:pic>
      <p:sp>
        <p:nvSpPr>
          <p:cNvPr id="334" name="Google Shape;334;p44"/>
          <p:cNvSpPr txBox="1"/>
          <p:nvPr>
            <p:ph idx="1" type="body"/>
          </p:nvPr>
        </p:nvSpPr>
        <p:spPr>
          <a:xfrm>
            <a:off x="311700" y="2754175"/>
            <a:ext cx="8520600" cy="21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Intuitively we want: J(A, B)?, J(A, C)?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Intuitively we want: sim(A, B) &gt; sim(A, C) </a:t>
            </a:r>
            <a:endParaRPr/>
          </a:p>
          <a:p>
            <a:pPr indent="0" lvl="0" marL="0" rtl="0" algn="l">
              <a:spcBef>
                <a:spcPts val="0"/>
              </a:spcBef>
              <a:spcAft>
                <a:spcPts val="0"/>
              </a:spcAft>
              <a:buNone/>
            </a:pPr>
            <a:r>
              <a:rPr lang="en"/>
              <a:t>sim(A, B) = ?</a:t>
            </a:r>
            <a:endParaRPr/>
          </a:p>
          <a:p>
            <a:pPr indent="0" lvl="0" marL="0" rtl="0" algn="l">
              <a:spcBef>
                <a:spcPts val="0"/>
              </a:spcBef>
              <a:spcAft>
                <a:spcPts val="0"/>
              </a:spcAft>
              <a:buNone/>
            </a:pPr>
            <a:r>
              <a:rPr lang="en"/>
              <a:t>sim(A, C) = ?</a:t>
            </a:r>
            <a:endParaRPr/>
          </a:p>
        </p:txBody>
      </p:sp>
      <p:pic>
        <p:nvPicPr>
          <p:cNvPr id="335" name="Google Shape;335;p44"/>
          <p:cNvPicPr preferRelativeResize="0"/>
          <p:nvPr/>
        </p:nvPicPr>
        <p:blipFill>
          <a:blip r:embed="rId4">
            <a:alphaModFix/>
          </a:blip>
          <a:stretch>
            <a:fillRect/>
          </a:stretch>
        </p:blipFill>
        <p:spPr>
          <a:xfrm>
            <a:off x="6140147" y="2571750"/>
            <a:ext cx="1934609" cy="572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41" name="Google Shape;34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pic>
        <p:nvPicPr>
          <p:cNvPr id="342" name="Google Shape;342;p45"/>
          <p:cNvPicPr preferRelativeResize="0"/>
          <p:nvPr/>
        </p:nvPicPr>
        <p:blipFill rotWithShape="1">
          <a:blip r:embed="rId3">
            <a:alphaModFix/>
          </a:blip>
          <a:srcRect b="0" l="0" r="0" t="0"/>
          <a:stretch/>
        </p:blipFill>
        <p:spPr>
          <a:xfrm>
            <a:off x="311700" y="895350"/>
            <a:ext cx="5637749" cy="1505600"/>
          </a:xfrm>
          <a:prstGeom prst="rect">
            <a:avLst/>
          </a:prstGeom>
          <a:noFill/>
          <a:ln>
            <a:noFill/>
          </a:ln>
        </p:spPr>
      </p:pic>
      <p:sp>
        <p:nvSpPr>
          <p:cNvPr id="343" name="Google Shape;343;p45"/>
          <p:cNvSpPr txBox="1"/>
          <p:nvPr>
            <p:ph idx="1" type="body"/>
          </p:nvPr>
        </p:nvSpPr>
        <p:spPr>
          <a:xfrm>
            <a:off x="311700" y="4097225"/>
            <a:ext cx="8520600" cy="9597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Mean-centered utility matrix: subtract the means of each row</a:t>
            </a:r>
            <a:endParaRPr/>
          </a:p>
          <a:p>
            <a:pPr indent="-325755" lvl="0" marL="457200" rtl="0" algn="l">
              <a:spcBef>
                <a:spcPts val="0"/>
              </a:spcBef>
              <a:spcAft>
                <a:spcPts val="0"/>
              </a:spcAft>
              <a:buSzPct val="100000"/>
              <a:buChar char="●"/>
            </a:pPr>
            <a:r>
              <a:rPr lang="en"/>
              <a:t>0: means no information</a:t>
            </a:r>
            <a:endParaRPr/>
          </a:p>
          <a:p>
            <a:pPr indent="-325755" lvl="0" marL="457200" rtl="0" algn="l">
              <a:spcBef>
                <a:spcPts val="0"/>
              </a:spcBef>
              <a:spcAft>
                <a:spcPts val="0"/>
              </a:spcAft>
              <a:buSzPct val="100000"/>
              <a:buChar char="●"/>
            </a:pPr>
            <a:r>
              <a:rPr lang="en"/>
              <a:t>Negative rating: means viewers with opposite ratings will have vectors in opposite directions. </a:t>
            </a:r>
            <a:endParaRPr/>
          </a:p>
        </p:txBody>
      </p:sp>
      <p:pic>
        <p:nvPicPr>
          <p:cNvPr id="344" name="Google Shape;344;p45"/>
          <p:cNvPicPr preferRelativeResize="0"/>
          <p:nvPr/>
        </p:nvPicPr>
        <p:blipFill rotWithShape="1">
          <a:blip r:embed="rId4">
            <a:alphaModFix/>
          </a:blip>
          <a:srcRect b="0" l="0" r="0" t="0"/>
          <a:stretch/>
        </p:blipFill>
        <p:spPr>
          <a:xfrm>
            <a:off x="311700" y="2524075"/>
            <a:ext cx="6076000" cy="1573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6"/>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50" name="Google Shape;35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51" name="Google Shape;351;p46"/>
          <p:cNvSpPr txBox="1"/>
          <p:nvPr>
            <p:ph idx="1" type="body"/>
          </p:nvPr>
        </p:nvSpPr>
        <p:spPr>
          <a:xfrm>
            <a:off x="311700" y="2754175"/>
            <a:ext cx="8520600" cy="21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sim(A, B) = ?</a:t>
            </a:r>
            <a:endParaRPr/>
          </a:p>
          <a:p>
            <a:pPr indent="0" lvl="0" marL="0" rtl="0" algn="l">
              <a:spcBef>
                <a:spcPts val="0"/>
              </a:spcBef>
              <a:spcAft>
                <a:spcPts val="0"/>
              </a:spcAft>
              <a:buNone/>
            </a:pPr>
            <a:r>
              <a:rPr lang="en"/>
              <a:t>sim(A, C) =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52" name="Google Shape;352;p46"/>
          <p:cNvPicPr preferRelativeResize="0"/>
          <p:nvPr/>
        </p:nvPicPr>
        <p:blipFill rotWithShape="1">
          <a:blip r:embed="rId3">
            <a:alphaModFix/>
          </a:blip>
          <a:srcRect b="0" l="0" r="0" t="0"/>
          <a:stretch/>
        </p:blipFill>
        <p:spPr>
          <a:xfrm>
            <a:off x="311700" y="771475"/>
            <a:ext cx="6076000" cy="1573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58" name="Google Shape;358;p47"/>
          <p:cNvSpPr txBox="1"/>
          <p:nvPr>
            <p:ph idx="1" type="body"/>
          </p:nvPr>
        </p:nvSpPr>
        <p:spPr>
          <a:xfrm>
            <a:off x="311700" y="771475"/>
            <a:ext cx="8520600" cy="4285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Finding similar users with </a:t>
            </a:r>
            <a:r>
              <a:rPr b="1" lang="en"/>
              <a:t>overlapping-item</a:t>
            </a:r>
            <a:r>
              <a:rPr lang="en"/>
              <a:t> mean centering</a:t>
            </a:r>
            <a:endParaRPr/>
          </a:p>
          <a:p>
            <a:pPr indent="0" lvl="0" marL="0" rtl="0" algn="l">
              <a:spcBef>
                <a:spcPts val="0"/>
              </a:spcBef>
              <a:spcAft>
                <a:spcPts val="0"/>
              </a:spcAft>
              <a:buNone/>
            </a:pPr>
            <a:r>
              <a:rPr lang="en"/>
              <a:t>Mean-centering: </a:t>
            </a:r>
            <a:endParaRPr/>
          </a:p>
          <a:p>
            <a:pPr indent="0" lvl="0" marL="0" rtl="0" algn="l">
              <a:spcBef>
                <a:spcPts val="0"/>
              </a:spcBef>
              <a:spcAft>
                <a:spcPts val="0"/>
              </a:spcAft>
              <a:buNone/>
            </a:pPr>
            <a:r>
              <a:rPr lang="en"/>
              <a:t>	</a:t>
            </a:r>
            <a:r>
              <a:rPr b="1" i="1" lang="en" sz="1600"/>
              <a:t>r</a:t>
            </a:r>
            <a:r>
              <a:rPr b="1" baseline="-25000" i="1" lang="en" sz="1600"/>
              <a:t>x</a:t>
            </a:r>
            <a:r>
              <a:rPr lang="en" sz="1600"/>
              <a:t> = {1, 0, 0, 1, 3}</a:t>
            </a:r>
            <a:endParaRPr sz="1400"/>
          </a:p>
          <a:p>
            <a:pPr indent="457200" lvl="0" marL="0" rtl="0" algn="l">
              <a:lnSpc>
                <a:spcPct val="100000"/>
              </a:lnSpc>
              <a:spcBef>
                <a:spcPts val="0"/>
              </a:spcBef>
              <a:spcAft>
                <a:spcPts val="0"/>
              </a:spcAft>
              <a:buNone/>
            </a:pPr>
            <a:r>
              <a:rPr b="1" i="1" lang="en" sz="1600"/>
              <a:t>r</a:t>
            </a:r>
            <a:r>
              <a:rPr b="1" baseline="-25000" i="1" lang="en" sz="1600"/>
              <a:t>y</a:t>
            </a:r>
            <a:r>
              <a:rPr lang="en" sz="1600"/>
              <a:t> = {1, 0, 2, 2, 0}</a:t>
            </a:r>
            <a:endParaRPr/>
          </a:p>
          <a:p>
            <a:pPr indent="0" lvl="0" marL="0" rtl="0" algn="l">
              <a:spcBef>
                <a:spcPts val="0"/>
              </a:spcBef>
              <a:spcAft>
                <a:spcPts val="0"/>
              </a:spcAft>
              <a:buNone/>
            </a:pPr>
            <a:r>
              <a:rPr lang="en"/>
              <a:t>	For each user x, compute mean of each ratings (ignoring missing values)</a:t>
            </a:r>
            <a:endParaRPr/>
          </a:p>
          <a:p>
            <a:pPr indent="0" lvl="0" marL="0" rtl="0" algn="l">
              <a:spcBef>
                <a:spcPts val="0"/>
              </a:spcBef>
              <a:spcAft>
                <a:spcPts val="0"/>
              </a:spcAft>
              <a:buNone/>
            </a:pPr>
            <a:r>
              <a:rPr lang="en"/>
              <a:t>		mean(r</a:t>
            </a:r>
            <a:r>
              <a:rPr lang="en" sz="1300"/>
              <a:t>x</a:t>
            </a:r>
            <a:r>
              <a:rPr lang="en"/>
              <a:t>) = (1+1+3) / 3 = 5/3	</a:t>
            </a:r>
            <a:endParaRPr/>
          </a:p>
          <a:p>
            <a:pPr indent="0" lvl="0" marL="0" rtl="0" algn="l">
              <a:spcBef>
                <a:spcPts val="0"/>
              </a:spcBef>
              <a:spcAft>
                <a:spcPts val="0"/>
              </a:spcAft>
              <a:buNone/>
            </a:pPr>
            <a:r>
              <a:rPr lang="en"/>
              <a:t>		mean(r</a:t>
            </a:r>
            <a:r>
              <a:rPr lang="en" sz="1400"/>
              <a:t>y</a:t>
            </a:r>
            <a:r>
              <a:rPr lang="en"/>
              <a:t>) = (1+2+2) / 3 = 5/3</a:t>
            </a:r>
            <a:endParaRPr/>
          </a:p>
          <a:p>
            <a:pPr indent="0" lvl="0" marL="0" rtl="0" algn="l">
              <a:spcBef>
                <a:spcPts val="0"/>
              </a:spcBef>
              <a:spcAft>
                <a:spcPts val="0"/>
              </a:spcAft>
              <a:buNone/>
            </a:pPr>
            <a:r>
              <a:rPr lang="en"/>
              <a:t>	Subtract this average from each of their ratings (do nothing to the missing values)</a:t>
            </a:r>
            <a:endParaRPr/>
          </a:p>
          <a:p>
            <a:pPr indent="0" lvl="0" marL="0" rtl="0" algn="l">
              <a:spcBef>
                <a:spcPts val="0"/>
              </a:spcBef>
              <a:spcAft>
                <a:spcPts val="0"/>
              </a:spcAft>
              <a:buNone/>
            </a:pPr>
            <a:r>
              <a:rPr lang="en"/>
              <a:t>		</a:t>
            </a:r>
            <a:r>
              <a:rPr lang="en"/>
              <a:t>r</a:t>
            </a:r>
            <a:r>
              <a:rPr lang="en" sz="1300"/>
              <a:t>x</a:t>
            </a:r>
            <a:r>
              <a:rPr lang="en"/>
              <a:t>= { -</a:t>
            </a:r>
            <a:r>
              <a:rPr lang="en"/>
              <a:t>2/3</a:t>
            </a:r>
            <a:r>
              <a:rPr lang="en"/>
              <a:t>,  0,    0,    -</a:t>
            </a:r>
            <a:r>
              <a:rPr lang="en"/>
              <a:t>2/3</a:t>
            </a:r>
            <a:r>
              <a:rPr lang="en"/>
              <a:t>,  4/3  }</a:t>
            </a:r>
            <a:endParaRPr/>
          </a:p>
          <a:p>
            <a:pPr indent="0" lvl="0" marL="0" rtl="0" algn="l">
              <a:spcBef>
                <a:spcPts val="0"/>
              </a:spcBef>
              <a:spcAft>
                <a:spcPts val="0"/>
              </a:spcAft>
              <a:buNone/>
            </a:pPr>
            <a:r>
              <a:rPr lang="en"/>
              <a:t>		</a:t>
            </a:r>
            <a:r>
              <a:rPr lang="en"/>
              <a:t>r</a:t>
            </a:r>
            <a:r>
              <a:rPr lang="en" sz="1300"/>
              <a:t>y</a:t>
            </a:r>
            <a:r>
              <a:rPr lang="en"/>
              <a:t>= { -2/3,  0, 1/3,     1/3,    0   }</a:t>
            </a:r>
            <a:endParaRPr/>
          </a:p>
          <a:p>
            <a:pPr indent="0" lvl="0" marL="0" rtl="0" algn="l">
              <a:spcBef>
                <a:spcPts val="0"/>
              </a:spcBef>
              <a:spcAft>
                <a:spcPts val="0"/>
              </a:spcAft>
              <a:buNone/>
            </a:pPr>
            <a:r>
              <a:rPr lang="en"/>
              <a:t>	</a:t>
            </a:r>
            <a:r>
              <a:rPr b="1" lang="en"/>
              <a:t>Keep only items they both rate</a:t>
            </a:r>
            <a:endParaRPr b="1"/>
          </a:p>
          <a:p>
            <a:pPr indent="0" lvl="0" marL="0" rtl="0" algn="l">
              <a:spcBef>
                <a:spcPts val="0"/>
              </a:spcBef>
              <a:spcAft>
                <a:spcPts val="0"/>
              </a:spcAft>
              <a:buNone/>
            </a:pPr>
            <a:r>
              <a:rPr b="1" lang="en"/>
              <a:t>		r</a:t>
            </a:r>
            <a:r>
              <a:rPr b="1" lang="en" sz="1300"/>
              <a:t>x</a:t>
            </a:r>
            <a:r>
              <a:rPr b="1" lang="en"/>
              <a:t>= { -2/3,  -2/3}</a:t>
            </a:r>
            <a:endParaRPr b="1"/>
          </a:p>
          <a:p>
            <a:pPr indent="0" lvl="0" marL="0" rtl="0" algn="l">
              <a:spcBef>
                <a:spcPts val="0"/>
              </a:spcBef>
              <a:spcAft>
                <a:spcPts val="0"/>
              </a:spcAft>
              <a:buNone/>
            </a:pPr>
            <a:r>
              <a:rPr b="1" lang="en"/>
              <a:t>		r</a:t>
            </a:r>
            <a:r>
              <a:rPr b="1" lang="en" sz="1300"/>
              <a:t>y</a:t>
            </a:r>
            <a:r>
              <a:rPr b="1" lang="en"/>
              <a:t>= { -2/3,   1/3}</a:t>
            </a:r>
            <a:endParaRPr b="1"/>
          </a:p>
          <a:p>
            <a:pPr indent="0" lvl="0" marL="0" rtl="0" algn="l">
              <a:spcBef>
                <a:spcPts val="0"/>
              </a:spcBef>
              <a:spcAft>
                <a:spcPts val="0"/>
              </a:spcAft>
              <a:buNone/>
            </a:pPr>
            <a:r>
              <a:rPr lang="en"/>
              <a:t>	Then compute cosine similarity</a:t>
            </a:r>
            <a:endParaRPr/>
          </a:p>
        </p:txBody>
      </p:sp>
      <p:sp>
        <p:nvSpPr>
          <p:cNvPr id="359" name="Google Shape;35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8"/>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65" name="Google Shape;365;p48"/>
          <p:cNvSpPr txBox="1"/>
          <p:nvPr>
            <p:ph idx="1" type="body"/>
          </p:nvPr>
        </p:nvSpPr>
        <p:spPr>
          <a:xfrm>
            <a:off x="311700" y="923875"/>
            <a:ext cx="7630800" cy="408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 similar users with overlapping-item mean centering</a:t>
            </a:r>
            <a:endParaRPr/>
          </a:p>
          <a:p>
            <a:pPr indent="0" lvl="0" marL="0" rtl="0" algn="l">
              <a:spcBef>
                <a:spcPts val="0"/>
              </a:spcBef>
              <a:spcAft>
                <a:spcPts val="0"/>
              </a:spcAft>
              <a:buNone/>
            </a:pPr>
            <a:r>
              <a:rPr lang="en"/>
              <a:t>Let r</a:t>
            </a:r>
            <a:r>
              <a:rPr baseline="-25000" lang="en"/>
              <a:t>x</a:t>
            </a:r>
            <a:r>
              <a:rPr lang="en"/>
              <a:t> be the vector of user x’s ratings</a:t>
            </a:r>
            <a:endParaRPr/>
          </a:p>
          <a:p>
            <a:pPr indent="0" lvl="0" marL="0" rtl="0" algn="l">
              <a:spcBef>
                <a:spcPts val="0"/>
              </a:spcBef>
              <a:spcAft>
                <a:spcPts val="0"/>
              </a:spcAft>
              <a:buNone/>
            </a:pPr>
            <a:r>
              <a:rPr lang="en"/>
              <a:t>Similarity Metric</a:t>
            </a:r>
            <a:endParaRPr/>
          </a:p>
          <a:p>
            <a:pPr indent="457200" lvl="0" marL="0" rtl="0" algn="l">
              <a:spcBef>
                <a:spcPts val="0"/>
              </a:spcBef>
              <a:spcAft>
                <a:spcPts val="0"/>
              </a:spcAft>
              <a:buNone/>
            </a:pPr>
            <a:r>
              <a:rPr b="1" lang="en"/>
              <a:t>Pearson correlation coefficient</a:t>
            </a:r>
            <a:endParaRPr b="1"/>
          </a:p>
          <a:p>
            <a:pPr indent="457200" lvl="0" marL="457200" rtl="0" algn="l">
              <a:spcBef>
                <a:spcPts val="0"/>
              </a:spcBef>
              <a:spcAft>
                <a:spcPts val="0"/>
              </a:spcAft>
              <a:buNone/>
            </a:pPr>
            <a:r>
              <a:rPr lang="en"/>
              <a:t>S</a:t>
            </a:r>
            <a:r>
              <a:rPr lang="en" sz="1200"/>
              <a:t>xy</a:t>
            </a:r>
            <a:r>
              <a:rPr lang="en"/>
              <a:t> = items rated by bot</a:t>
            </a:r>
            <a:r>
              <a:rPr lang="en"/>
              <a:t>h</a:t>
            </a:r>
            <a:r>
              <a:rPr lang="en"/>
              <a:t> users x and y</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6" name="Google Shape;36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
        <p:nvSpPr>
          <p:cNvPr id="367" name="Google Shape;367;p48"/>
          <p:cNvSpPr txBox="1"/>
          <p:nvPr/>
        </p:nvSpPr>
        <p:spPr>
          <a:xfrm>
            <a:off x="5014525" y="872925"/>
            <a:ext cx="3981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800">
              <a:solidFill>
                <a:srgbClr val="008000"/>
              </a:solidFill>
            </a:endParaRPr>
          </a:p>
        </p:txBody>
      </p:sp>
      <p:pic>
        <p:nvPicPr>
          <p:cNvPr id="368" name="Google Shape;368;p48"/>
          <p:cNvPicPr preferRelativeResize="0"/>
          <p:nvPr/>
        </p:nvPicPr>
        <p:blipFill>
          <a:blip r:embed="rId3">
            <a:alphaModFix/>
          </a:blip>
          <a:stretch>
            <a:fillRect/>
          </a:stretch>
        </p:blipFill>
        <p:spPr>
          <a:xfrm>
            <a:off x="1333500" y="2763725"/>
            <a:ext cx="5621625" cy="10595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9"/>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User-user collaborative filtering </a:t>
            </a:r>
            <a:endParaRPr/>
          </a:p>
        </p:txBody>
      </p:sp>
      <p:sp>
        <p:nvSpPr>
          <p:cNvPr id="374" name="Google Shape;37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375" name="Google Shape;375;p49"/>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Rating predictions</a:t>
            </a:r>
            <a:endParaRPr/>
          </a:p>
          <a:p>
            <a:pPr indent="-342900" lvl="0" marL="457200" rtl="0" algn="l">
              <a:spcBef>
                <a:spcPts val="0"/>
              </a:spcBef>
              <a:spcAft>
                <a:spcPts val="0"/>
              </a:spcAft>
              <a:buSzPts val="1800"/>
              <a:buChar char="●"/>
            </a:pPr>
            <a:r>
              <a:rPr lang="en"/>
              <a:t>Let r</a:t>
            </a:r>
            <a:r>
              <a:rPr baseline="-25000" lang="en"/>
              <a:t>x</a:t>
            </a:r>
            <a:r>
              <a:rPr lang="en"/>
              <a:t> be the vector of user x’s ratings</a:t>
            </a:r>
            <a:endParaRPr/>
          </a:p>
          <a:p>
            <a:pPr indent="-342900" lvl="0" marL="457200" rtl="0" algn="l">
              <a:spcBef>
                <a:spcPts val="0"/>
              </a:spcBef>
              <a:spcAft>
                <a:spcPts val="0"/>
              </a:spcAft>
              <a:buSzPts val="1800"/>
              <a:buChar char="●"/>
            </a:pPr>
            <a:r>
              <a:rPr lang="en"/>
              <a:t>Let N be the set of k users most similar to x who have rated item i</a:t>
            </a:r>
            <a:endParaRPr/>
          </a:p>
          <a:p>
            <a:pPr indent="-342900" lvl="0" marL="457200" rtl="0" algn="l">
              <a:spcBef>
                <a:spcPts val="0"/>
              </a:spcBef>
              <a:spcAft>
                <a:spcPts val="0"/>
              </a:spcAft>
              <a:buSzPts val="1800"/>
              <a:buChar char="●"/>
            </a:pPr>
            <a:r>
              <a:rPr lang="en"/>
              <a:t>Prediction for item i of user x:</a:t>
            </a:r>
            <a:endParaRPr/>
          </a:p>
          <a:p>
            <a:pPr indent="0" lvl="0" marL="0" rtl="0" algn="l">
              <a:spcBef>
                <a:spcPts val="0"/>
              </a:spcBef>
              <a:spcAft>
                <a:spcPts val="0"/>
              </a:spcAft>
              <a:buNone/>
            </a:pPr>
            <a:r>
              <a:rPr lang="en"/>
              <a:t>	Rate i as the mean of what k-people-like-me rated 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t>Rate i as the weighted mean of what k-people-like-me rated 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76" name="Google Shape;376;p49"/>
          <p:cNvPicPr preferRelativeResize="0"/>
          <p:nvPr/>
        </p:nvPicPr>
        <p:blipFill>
          <a:blip r:embed="rId3">
            <a:alphaModFix/>
          </a:blip>
          <a:stretch>
            <a:fillRect/>
          </a:stretch>
        </p:blipFill>
        <p:spPr>
          <a:xfrm>
            <a:off x="881209" y="2464300"/>
            <a:ext cx="2242266" cy="572700"/>
          </a:xfrm>
          <a:prstGeom prst="rect">
            <a:avLst/>
          </a:prstGeom>
          <a:noFill/>
          <a:ln>
            <a:noFill/>
          </a:ln>
        </p:spPr>
      </p:pic>
      <p:pic>
        <p:nvPicPr>
          <p:cNvPr id="377" name="Google Shape;377;p49"/>
          <p:cNvPicPr preferRelativeResize="0"/>
          <p:nvPr/>
        </p:nvPicPr>
        <p:blipFill>
          <a:blip r:embed="rId4">
            <a:alphaModFix/>
          </a:blip>
          <a:stretch>
            <a:fillRect/>
          </a:stretch>
        </p:blipFill>
        <p:spPr>
          <a:xfrm>
            <a:off x="881200" y="3386851"/>
            <a:ext cx="2428875" cy="741874"/>
          </a:xfrm>
          <a:prstGeom prst="rect">
            <a:avLst/>
          </a:prstGeom>
          <a:noFill/>
          <a:ln>
            <a:noFill/>
          </a:ln>
        </p:spPr>
      </p:pic>
      <p:pic>
        <p:nvPicPr>
          <p:cNvPr id="378" name="Google Shape;378;p49"/>
          <p:cNvPicPr preferRelativeResize="0"/>
          <p:nvPr/>
        </p:nvPicPr>
        <p:blipFill rotWithShape="1">
          <a:blip r:embed="rId5">
            <a:alphaModFix/>
          </a:blip>
          <a:srcRect b="0" l="0" r="0" t="0"/>
          <a:stretch/>
        </p:blipFill>
        <p:spPr>
          <a:xfrm>
            <a:off x="3383400" y="3551225"/>
            <a:ext cx="5637749" cy="1505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0"/>
          <p:cNvSpPr txBox="1"/>
          <p:nvPr>
            <p:ph type="title"/>
          </p:nvPr>
        </p:nvSpPr>
        <p:spPr>
          <a:xfrm>
            <a:off x="311700" y="1402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Item-Item</a:t>
            </a:r>
            <a:r>
              <a:rPr lang="en"/>
              <a:t> collaborative filtering </a:t>
            </a:r>
            <a:endParaRPr/>
          </a:p>
        </p:txBody>
      </p:sp>
      <p:sp>
        <p:nvSpPr>
          <p:cNvPr id="384" name="Google Shape;384;p50"/>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item i, find other similar items</a:t>
            </a:r>
            <a:endParaRPr/>
          </a:p>
          <a:p>
            <a:pPr indent="0" lvl="0" marL="0" rtl="0" algn="l">
              <a:spcBef>
                <a:spcPts val="0"/>
              </a:spcBef>
              <a:spcAft>
                <a:spcPts val="0"/>
              </a:spcAft>
              <a:buNone/>
            </a:pPr>
            <a:r>
              <a:rPr lang="en"/>
              <a:t>Estimate rating for item i based on ratings for similar items</a:t>
            </a:r>
            <a:endParaRPr/>
          </a:p>
          <a:p>
            <a:pPr indent="0" lvl="0" marL="0" rtl="0" algn="l">
              <a:spcBef>
                <a:spcPts val="0"/>
              </a:spcBef>
              <a:spcAft>
                <a:spcPts val="0"/>
              </a:spcAft>
              <a:buNone/>
            </a:pPr>
            <a:r>
              <a:rPr lang="en"/>
              <a:t>Can use same similarity metrics and prediction functions as in user-user model</a:t>
            </a:r>
            <a:endParaRPr/>
          </a:p>
          <a:p>
            <a:pPr indent="0" lvl="0" marL="0" rtl="0" algn="l">
              <a:spcBef>
                <a:spcPts val="0"/>
              </a:spcBef>
              <a:spcAft>
                <a:spcPts val="0"/>
              </a:spcAft>
              <a:buNone/>
            </a:pPr>
            <a:r>
              <a:rPr lang="en"/>
              <a:t>	“Rate i as the mean of my ratings for other items, weighted by their similarity to i”</a:t>
            </a:r>
            <a:endParaRPr/>
          </a:p>
        </p:txBody>
      </p:sp>
      <p:sp>
        <p:nvSpPr>
          <p:cNvPr id="385" name="Google Shape;38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86" name="Google Shape;386;p50"/>
          <p:cNvPicPr preferRelativeResize="0"/>
          <p:nvPr/>
        </p:nvPicPr>
        <p:blipFill rotWithShape="1">
          <a:blip r:embed="rId3">
            <a:alphaModFix/>
          </a:blip>
          <a:srcRect b="0" l="0" r="0" t="0"/>
          <a:stretch/>
        </p:blipFill>
        <p:spPr>
          <a:xfrm>
            <a:off x="964849" y="2343150"/>
            <a:ext cx="2874452" cy="1262800"/>
          </a:xfrm>
          <a:prstGeom prst="rect">
            <a:avLst/>
          </a:prstGeom>
          <a:noFill/>
          <a:ln cap="flat" cmpd="sng" w="28575">
            <a:solidFill>
              <a:srgbClr val="0000FF"/>
            </a:solidFill>
            <a:prstDash val="solid"/>
            <a:round/>
            <a:headEnd len="sm" w="sm" type="none"/>
            <a:tailEnd len="sm" w="sm" type="none"/>
          </a:ln>
        </p:spPr>
      </p:pic>
      <p:sp>
        <p:nvSpPr>
          <p:cNvPr id="387" name="Google Shape;387;p50"/>
          <p:cNvSpPr txBox="1"/>
          <p:nvPr/>
        </p:nvSpPr>
        <p:spPr>
          <a:xfrm>
            <a:off x="4929550" y="2343150"/>
            <a:ext cx="4361100" cy="1015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 sz="1800">
                <a:solidFill>
                  <a:srgbClr val="008000"/>
                </a:solidFill>
                <a:latin typeface="Times New Roman"/>
                <a:ea typeface="Times New Roman"/>
                <a:cs typeface="Times New Roman"/>
                <a:sym typeface="Times New Roman"/>
              </a:rPr>
              <a:t>s</a:t>
            </a:r>
            <a:r>
              <a:rPr b="1" baseline="-25000" i="1" lang="en" sz="1800">
                <a:solidFill>
                  <a:srgbClr val="008000"/>
                </a:solidFill>
                <a:latin typeface="Times New Roman"/>
                <a:ea typeface="Times New Roman"/>
                <a:cs typeface="Times New Roman"/>
                <a:sym typeface="Times New Roman"/>
              </a:rPr>
              <a:t>ij</a:t>
            </a:r>
            <a:r>
              <a:rPr lang="en" sz="1800">
                <a:solidFill>
                  <a:srgbClr val="008000"/>
                </a:solidFill>
                <a:latin typeface="Times New Roman"/>
                <a:ea typeface="Times New Roman"/>
                <a:cs typeface="Times New Roman"/>
                <a:sym typeface="Times New Roman"/>
              </a:rPr>
              <a:t>… similarity of items </a:t>
            </a:r>
            <a:r>
              <a:rPr b="1" i="1" lang="en" sz="1800">
                <a:solidFill>
                  <a:srgbClr val="008000"/>
                </a:solidFill>
                <a:latin typeface="Times New Roman"/>
                <a:ea typeface="Times New Roman"/>
                <a:cs typeface="Times New Roman"/>
                <a:sym typeface="Times New Roman"/>
              </a:rPr>
              <a:t>i</a:t>
            </a:r>
            <a:r>
              <a:rPr i="1" lang="en" sz="1800">
                <a:solidFill>
                  <a:srgbClr val="008000"/>
                </a:solidFill>
                <a:latin typeface="Times New Roman"/>
                <a:ea typeface="Times New Roman"/>
                <a:cs typeface="Times New Roman"/>
                <a:sym typeface="Times New Roman"/>
              </a:rPr>
              <a:t> </a:t>
            </a:r>
            <a:r>
              <a:rPr lang="en" sz="1800">
                <a:solidFill>
                  <a:srgbClr val="008000"/>
                </a:solidFill>
                <a:latin typeface="Times New Roman"/>
                <a:ea typeface="Times New Roman"/>
                <a:cs typeface="Times New Roman"/>
                <a:sym typeface="Times New Roman"/>
              </a:rPr>
              <a:t>and </a:t>
            </a:r>
            <a:r>
              <a:rPr b="1" i="1" lang="en" sz="1800">
                <a:solidFill>
                  <a:srgbClr val="008000"/>
                </a:solidFill>
                <a:latin typeface="Times New Roman"/>
                <a:ea typeface="Times New Roman"/>
                <a:cs typeface="Times New Roman"/>
                <a:sym typeface="Times New Roman"/>
              </a:rPr>
              <a:t>j</a:t>
            </a:r>
            <a:endParaRPr>
              <a:latin typeface="Times New Roman"/>
              <a:ea typeface="Times New Roman"/>
              <a:cs typeface="Times New Roman"/>
              <a:sym typeface="Times New Roman"/>
            </a:endParaRPr>
          </a:p>
          <a:p>
            <a:pPr indent="0" lvl="0" marL="0" rtl="0" algn="just">
              <a:spcBef>
                <a:spcPts val="0"/>
              </a:spcBef>
              <a:spcAft>
                <a:spcPts val="0"/>
              </a:spcAft>
              <a:buNone/>
            </a:pPr>
            <a:r>
              <a:rPr b="1" i="1" lang="en" sz="1800">
                <a:solidFill>
                  <a:srgbClr val="008000"/>
                </a:solidFill>
                <a:latin typeface="Times New Roman"/>
                <a:ea typeface="Times New Roman"/>
                <a:cs typeface="Times New Roman"/>
                <a:sym typeface="Times New Roman"/>
              </a:rPr>
              <a:t>r</a:t>
            </a:r>
            <a:r>
              <a:rPr b="1" baseline="-25000" i="1" lang="en" sz="1800">
                <a:solidFill>
                  <a:srgbClr val="008000"/>
                </a:solidFill>
                <a:latin typeface="Times New Roman"/>
                <a:ea typeface="Times New Roman"/>
                <a:cs typeface="Times New Roman"/>
                <a:sym typeface="Times New Roman"/>
              </a:rPr>
              <a:t>xj</a:t>
            </a:r>
            <a:r>
              <a:rPr i="1" lang="en" sz="1800">
                <a:solidFill>
                  <a:srgbClr val="008000"/>
                </a:solidFill>
                <a:latin typeface="Times New Roman"/>
                <a:ea typeface="Times New Roman"/>
                <a:cs typeface="Times New Roman"/>
                <a:sym typeface="Times New Roman"/>
              </a:rPr>
              <a:t>…</a:t>
            </a:r>
            <a:r>
              <a:rPr lang="en" sz="1800">
                <a:solidFill>
                  <a:srgbClr val="008000"/>
                </a:solidFill>
                <a:latin typeface="Times New Roman"/>
                <a:ea typeface="Times New Roman"/>
                <a:cs typeface="Times New Roman"/>
                <a:sym typeface="Times New Roman"/>
              </a:rPr>
              <a:t>rating of user </a:t>
            </a:r>
            <a:r>
              <a:rPr b="1" i="1" lang="en" sz="1800">
                <a:solidFill>
                  <a:srgbClr val="008000"/>
                </a:solidFill>
                <a:latin typeface="Times New Roman"/>
                <a:ea typeface="Times New Roman"/>
                <a:cs typeface="Times New Roman"/>
                <a:sym typeface="Times New Roman"/>
              </a:rPr>
              <a:t>x</a:t>
            </a:r>
            <a:r>
              <a:rPr lang="en" sz="1800">
                <a:solidFill>
                  <a:srgbClr val="008000"/>
                </a:solidFill>
                <a:latin typeface="Times New Roman"/>
                <a:ea typeface="Times New Roman"/>
                <a:cs typeface="Times New Roman"/>
                <a:sym typeface="Times New Roman"/>
              </a:rPr>
              <a:t> on item </a:t>
            </a:r>
            <a:r>
              <a:rPr b="1" i="1" lang="en" sz="1800">
                <a:solidFill>
                  <a:srgbClr val="008000"/>
                </a:solidFill>
                <a:latin typeface="Times New Roman"/>
                <a:ea typeface="Times New Roman"/>
                <a:cs typeface="Times New Roman"/>
                <a:sym typeface="Times New Roman"/>
              </a:rPr>
              <a:t>j</a:t>
            </a:r>
            <a:endParaRPr>
              <a:latin typeface="Times New Roman"/>
              <a:ea typeface="Times New Roman"/>
              <a:cs typeface="Times New Roman"/>
              <a:sym typeface="Times New Roman"/>
            </a:endParaRPr>
          </a:p>
          <a:p>
            <a:pPr indent="0" lvl="0" marL="0" rtl="0" algn="just">
              <a:spcBef>
                <a:spcPts val="0"/>
              </a:spcBef>
              <a:spcAft>
                <a:spcPts val="0"/>
              </a:spcAft>
              <a:buNone/>
            </a:pPr>
            <a:r>
              <a:rPr b="1" i="1" lang="en" sz="1800">
                <a:solidFill>
                  <a:srgbClr val="008000"/>
                </a:solidFill>
                <a:latin typeface="Times New Roman"/>
                <a:ea typeface="Times New Roman"/>
                <a:cs typeface="Times New Roman"/>
                <a:sym typeface="Times New Roman"/>
              </a:rPr>
              <a:t>N(i;x)</a:t>
            </a:r>
            <a:r>
              <a:rPr i="1" lang="en" sz="1800">
                <a:solidFill>
                  <a:srgbClr val="008000"/>
                </a:solidFill>
                <a:latin typeface="Times New Roman"/>
                <a:ea typeface="Times New Roman"/>
                <a:cs typeface="Times New Roman"/>
                <a:sym typeface="Times New Roman"/>
              </a:rPr>
              <a:t>… </a:t>
            </a:r>
            <a:r>
              <a:rPr lang="en" sz="1800">
                <a:solidFill>
                  <a:srgbClr val="008000"/>
                </a:solidFill>
                <a:latin typeface="Times New Roman"/>
                <a:ea typeface="Times New Roman"/>
                <a:cs typeface="Times New Roman"/>
                <a:sym typeface="Times New Roman"/>
              </a:rPr>
              <a:t>set items rated by </a:t>
            </a:r>
            <a:r>
              <a:rPr b="1" i="1" lang="en" sz="1800">
                <a:solidFill>
                  <a:srgbClr val="008000"/>
                </a:solidFill>
                <a:latin typeface="Times New Roman"/>
                <a:ea typeface="Times New Roman"/>
                <a:cs typeface="Times New Roman"/>
                <a:sym typeface="Times New Roman"/>
              </a:rPr>
              <a:t>x</a:t>
            </a:r>
            <a:r>
              <a:rPr lang="en" sz="1800">
                <a:solidFill>
                  <a:srgbClr val="008000"/>
                </a:solidFill>
                <a:latin typeface="Times New Roman"/>
                <a:ea typeface="Times New Roman"/>
                <a:cs typeface="Times New Roman"/>
                <a:sym typeface="Times New Roman"/>
              </a:rPr>
              <a:t> similar to</a:t>
            </a:r>
            <a:r>
              <a:rPr b="1" lang="en" sz="1800">
                <a:solidFill>
                  <a:srgbClr val="008000"/>
                </a:solidFill>
                <a:latin typeface="Times New Roman"/>
                <a:ea typeface="Times New Roman"/>
                <a:cs typeface="Times New Roman"/>
                <a:sym typeface="Times New Roman"/>
              </a:rPr>
              <a:t> </a:t>
            </a:r>
            <a:r>
              <a:rPr b="1" i="1" lang="en" sz="1800">
                <a:solidFill>
                  <a:srgbClr val="008000"/>
                </a:solidFill>
                <a:latin typeface="Times New Roman"/>
                <a:ea typeface="Times New Roman"/>
                <a:cs typeface="Times New Roman"/>
                <a:sym typeface="Times New Roman"/>
              </a:rPr>
              <a:t>i</a:t>
            </a:r>
            <a:endParaRPr b="1" i="1" sz="1800">
              <a:solidFill>
                <a:srgbClr val="008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457200" y="0"/>
            <a:ext cx="8229600" cy="8574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Item-Item CF (|N|=2)</a:t>
            </a:r>
            <a:endParaRPr/>
          </a:p>
        </p:txBody>
      </p:sp>
      <p:graphicFrame>
        <p:nvGraphicFramePr>
          <p:cNvPr id="393" name="Google Shape;393;p51"/>
          <p:cNvGraphicFramePr/>
          <p:nvPr/>
        </p:nvGraphicFramePr>
        <p:xfrm>
          <a:off x="1158875" y="1206103"/>
          <a:ext cx="3000000" cy="3000000"/>
        </p:xfrm>
        <a:graphic>
          <a:graphicData uri="http://schemas.openxmlformats.org/drawingml/2006/table">
            <a:tbl>
              <a:tblPr>
                <a:noFill/>
                <a:tableStyleId>{31563634-6EFB-4475-A687-86A65893C6B7}</a:tableStyleId>
              </a:tblPr>
              <a:tblGrid>
                <a:gridCol w="508000"/>
                <a:gridCol w="508000"/>
                <a:gridCol w="508000"/>
                <a:gridCol w="508000"/>
                <a:gridCol w="508000"/>
                <a:gridCol w="508000"/>
                <a:gridCol w="508000"/>
                <a:gridCol w="508000"/>
                <a:gridCol w="508000"/>
                <a:gridCol w="508000"/>
                <a:gridCol w="508000"/>
                <a:gridCol w="508000"/>
                <a:gridCol w="508000"/>
              </a:tblGrid>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12</a:t>
                      </a:r>
                      <a:endParaRPr sz="1100"/>
                    </a:p>
                  </a:txBody>
                  <a:tcPr marT="34300" marB="34300"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9</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8</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7</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94" name="Google Shape;394;p51"/>
          <p:cNvSpPr txBox="1"/>
          <p:nvPr/>
        </p:nvSpPr>
        <p:spPr>
          <a:xfrm>
            <a:off x="4130675" y="857250"/>
            <a:ext cx="763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users</a:t>
            </a:r>
            <a:endParaRPr/>
          </a:p>
        </p:txBody>
      </p:sp>
      <p:sp>
        <p:nvSpPr>
          <p:cNvPr id="395" name="Google Shape;395;p51"/>
          <p:cNvSpPr txBox="1"/>
          <p:nvPr/>
        </p:nvSpPr>
        <p:spPr>
          <a:xfrm rot="-5400000">
            <a:off x="115650" y="2266942"/>
            <a:ext cx="1388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movies</a:t>
            </a:r>
            <a:endParaRPr/>
          </a:p>
        </p:txBody>
      </p:sp>
      <p:grpSp>
        <p:nvGrpSpPr>
          <p:cNvPr id="396" name="Google Shape;396;p51"/>
          <p:cNvGrpSpPr/>
          <p:nvPr/>
        </p:nvGrpSpPr>
        <p:grpSpPr>
          <a:xfrm>
            <a:off x="1828800" y="4419603"/>
            <a:ext cx="6057900" cy="414338"/>
            <a:chOff x="1392" y="3744"/>
            <a:chExt cx="3816" cy="348"/>
          </a:xfrm>
        </p:grpSpPr>
        <p:sp>
          <p:nvSpPr>
            <p:cNvPr id="397" name="Google Shape;397;p51"/>
            <p:cNvSpPr/>
            <p:nvPr/>
          </p:nvSpPr>
          <p:spPr>
            <a:xfrm>
              <a:off x="1392" y="3744"/>
              <a:ext cx="300" cy="3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98" name="Google Shape;398;p51"/>
            <p:cNvSpPr/>
            <p:nvPr/>
          </p:nvSpPr>
          <p:spPr>
            <a:xfrm>
              <a:off x="3072" y="3744"/>
              <a:ext cx="300" cy="300"/>
            </a:xfrm>
            <a:prstGeom prst="rect">
              <a:avLst/>
            </a:prstGeom>
            <a:solidFill>
              <a:srgbClr val="FFF905"/>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99" name="Google Shape;399;p51"/>
            <p:cNvSpPr txBox="1"/>
            <p:nvPr/>
          </p:nvSpPr>
          <p:spPr>
            <a:xfrm>
              <a:off x="1728" y="3792"/>
              <a:ext cx="12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 unknown rating</a:t>
              </a:r>
              <a:endParaRPr/>
            </a:p>
          </p:txBody>
        </p:sp>
        <p:sp>
          <p:nvSpPr>
            <p:cNvPr id="400" name="Google Shape;400;p51"/>
            <p:cNvSpPr txBox="1"/>
            <p:nvPr/>
          </p:nvSpPr>
          <p:spPr>
            <a:xfrm>
              <a:off x="3408" y="3792"/>
              <a:ext cx="18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 rating between 1 to 5</a:t>
              </a:r>
              <a:endParaRPr/>
            </a:p>
          </p:txBody>
        </p:sp>
      </p:grpSp>
      <p:sp>
        <p:nvSpPr>
          <p:cNvPr id="401" name="Google Shape;401;p51"/>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2"/>
          <p:cNvSpPr txBox="1"/>
          <p:nvPr>
            <p:ph type="title"/>
          </p:nvPr>
        </p:nvSpPr>
        <p:spPr>
          <a:xfrm>
            <a:off x="457200" y="0"/>
            <a:ext cx="8229600" cy="8574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Item-Item CF (|N|=2)</a:t>
            </a:r>
            <a:endParaRPr/>
          </a:p>
        </p:txBody>
      </p:sp>
      <p:graphicFrame>
        <p:nvGraphicFramePr>
          <p:cNvPr id="407" name="Google Shape;407;p52"/>
          <p:cNvGraphicFramePr/>
          <p:nvPr/>
        </p:nvGraphicFramePr>
        <p:xfrm>
          <a:off x="1158875" y="1206103"/>
          <a:ext cx="3000000" cy="3000000"/>
        </p:xfrm>
        <a:graphic>
          <a:graphicData uri="http://schemas.openxmlformats.org/drawingml/2006/table">
            <a:tbl>
              <a:tblPr>
                <a:noFill/>
                <a:tableStyleId>{31563634-6EFB-4475-A687-86A65893C6B7}</a:tableStyleId>
              </a:tblPr>
              <a:tblGrid>
                <a:gridCol w="508000"/>
                <a:gridCol w="508000"/>
                <a:gridCol w="508000"/>
                <a:gridCol w="508000"/>
                <a:gridCol w="508000"/>
                <a:gridCol w="508000"/>
                <a:gridCol w="508000"/>
                <a:gridCol w="508000"/>
                <a:gridCol w="508000"/>
                <a:gridCol w="508000"/>
                <a:gridCol w="508000"/>
                <a:gridCol w="508000"/>
                <a:gridCol w="508000"/>
              </a:tblGrid>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12</a:t>
                      </a:r>
                      <a:endParaRPr sz="1100"/>
                    </a:p>
                  </a:txBody>
                  <a:tcPr marT="34300" marB="34300"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9</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8</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7</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1"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 </a:t>
                      </a:r>
                      <a:endParaRPr b="0" i="0" sz="1500" u="none" cap="none" strike="noStrike">
                        <a:solidFill>
                          <a:schemeClr val="lt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08" name="Google Shape;408;p52"/>
          <p:cNvSpPr txBox="1"/>
          <p:nvPr/>
        </p:nvSpPr>
        <p:spPr>
          <a:xfrm>
            <a:off x="4130675" y="857250"/>
            <a:ext cx="763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users</a:t>
            </a:r>
            <a:endParaRPr/>
          </a:p>
        </p:txBody>
      </p:sp>
      <p:sp>
        <p:nvSpPr>
          <p:cNvPr id="409" name="Google Shape;409;p52"/>
          <p:cNvSpPr/>
          <p:nvPr/>
        </p:nvSpPr>
        <p:spPr>
          <a:xfrm>
            <a:off x="1997075" y="4419603"/>
            <a:ext cx="533400" cy="400200"/>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0" name="Google Shape;410;p52"/>
          <p:cNvSpPr txBox="1"/>
          <p:nvPr/>
        </p:nvSpPr>
        <p:spPr>
          <a:xfrm>
            <a:off x="2530475" y="4476753"/>
            <a:ext cx="4038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 estimate rating of movie </a:t>
            </a:r>
            <a:r>
              <a:rPr b="1" lang="en" sz="1800">
                <a:solidFill>
                  <a:srgbClr val="006600"/>
                </a:solidFill>
                <a:latin typeface="Arial"/>
                <a:ea typeface="Arial"/>
                <a:cs typeface="Arial"/>
                <a:sym typeface="Arial"/>
              </a:rPr>
              <a:t>1</a:t>
            </a:r>
            <a:r>
              <a:rPr lang="en" sz="1800">
                <a:solidFill>
                  <a:schemeClr val="dk1"/>
                </a:solidFill>
                <a:latin typeface="Arial"/>
                <a:ea typeface="Arial"/>
                <a:cs typeface="Arial"/>
                <a:sym typeface="Arial"/>
              </a:rPr>
              <a:t> by user </a:t>
            </a:r>
            <a:r>
              <a:rPr b="1" lang="en" sz="1800">
                <a:solidFill>
                  <a:srgbClr val="006600"/>
                </a:solidFill>
                <a:latin typeface="Arial"/>
                <a:ea typeface="Arial"/>
                <a:cs typeface="Arial"/>
                <a:sym typeface="Arial"/>
              </a:rPr>
              <a:t>5</a:t>
            </a:r>
            <a:endParaRPr/>
          </a:p>
        </p:txBody>
      </p:sp>
      <p:sp>
        <p:nvSpPr>
          <p:cNvPr id="411" name="Google Shape;411;p52"/>
          <p:cNvSpPr txBox="1"/>
          <p:nvPr/>
        </p:nvSpPr>
        <p:spPr>
          <a:xfrm rot="-5400000">
            <a:off x="255000" y="2406295"/>
            <a:ext cx="1109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movies</a:t>
            </a:r>
            <a:endParaRPr/>
          </a:p>
        </p:txBody>
      </p:sp>
      <p:sp>
        <p:nvSpPr>
          <p:cNvPr id="412" name="Google Shape;412;p52"/>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3" name="Google Shape;413;p52"/>
          <p:cNvSpPr txBox="1"/>
          <p:nvPr/>
        </p:nvSpPr>
        <p:spPr>
          <a:xfrm>
            <a:off x="7762875" y="2496348"/>
            <a:ext cx="100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0.657</a:t>
            </a:r>
            <a:endParaRPr sz="1800">
              <a:solidFill>
                <a:schemeClr val="dk2"/>
              </a:solidFill>
              <a:latin typeface="Times New Roman"/>
              <a:ea typeface="Times New Roman"/>
              <a:cs typeface="Times New Roman"/>
              <a:sym typeface="Times New Roman"/>
            </a:endParaRPr>
          </a:p>
        </p:txBody>
      </p:sp>
      <p:sp>
        <p:nvSpPr>
          <p:cNvPr id="414" name="Google Shape;414;p52"/>
          <p:cNvSpPr txBox="1"/>
          <p:nvPr/>
        </p:nvSpPr>
        <p:spPr>
          <a:xfrm>
            <a:off x="7829650" y="2944498"/>
            <a:ext cx="100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-0.83</a:t>
            </a:r>
            <a:endParaRPr sz="1800">
              <a:solidFill>
                <a:schemeClr val="dk2"/>
              </a:solidFill>
              <a:latin typeface="Times New Roman"/>
              <a:ea typeface="Times New Roman"/>
              <a:cs typeface="Times New Roman"/>
              <a:sym typeface="Times New Roman"/>
            </a:endParaRPr>
          </a:p>
        </p:txBody>
      </p:sp>
      <p:sp>
        <p:nvSpPr>
          <p:cNvPr id="415" name="Google Shape;415;p52"/>
          <p:cNvSpPr txBox="1"/>
          <p:nvPr/>
        </p:nvSpPr>
        <p:spPr>
          <a:xfrm>
            <a:off x="7818115" y="3360428"/>
            <a:ext cx="12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-0.89</a:t>
            </a:r>
            <a:endParaRPr sz="1800">
              <a:solidFill>
                <a:schemeClr val="dk2"/>
              </a:solidFill>
              <a:latin typeface="Times New Roman"/>
              <a:ea typeface="Times New Roman"/>
              <a:cs typeface="Times New Roman"/>
              <a:sym typeface="Times New Roman"/>
            </a:endParaRPr>
          </a:p>
        </p:txBody>
      </p:sp>
      <p:sp>
        <p:nvSpPr>
          <p:cNvPr id="416" name="Google Shape;416;p52"/>
          <p:cNvSpPr txBox="1"/>
          <p:nvPr/>
        </p:nvSpPr>
        <p:spPr>
          <a:xfrm>
            <a:off x="7831523" y="3813703"/>
            <a:ext cx="12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0.768</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3"/>
          <p:cNvSpPr txBox="1"/>
          <p:nvPr>
            <p:ph type="title"/>
          </p:nvPr>
        </p:nvSpPr>
        <p:spPr>
          <a:xfrm>
            <a:off x="457200" y="0"/>
            <a:ext cx="8229600" cy="8574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Item-Item CF (|N|=2)</a:t>
            </a:r>
            <a:endParaRPr/>
          </a:p>
        </p:txBody>
      </p:sp>
      <p:graphicFrame>
        <p:nvGraphicFramePr>
          <p:cNvPr id="422" name="Google Shape;422;p53"/>
          <p:cNvGraphicFramePr/>
          <p:nvPr/>
        </p:nvGraphicFramePr>
        <p:xfrm>
          <a:off x="1158875" y="1206103"/>
          <a:ext cx="3000000" cy="3000000"/>
        </p:xfrm>
        <a:graphic>
          <a:graphicData uri="http://schemas.openxmlformats.org/drawingml/2006/table">
            <a:tbl>
              <a:tblPr>
                <a:noFill/>
                <a:tableStyleId>{31563634-6EFB-4475-A687-86A65893C6B7}</a:tableStyleId>
              </a:tblPr>
              <a:tblGrid>
                <a:gridCol w="508000"/>
                <a:gridCol w="508000"/>
                <a:gridCol w="508000"/>
                <a:gridCol w="508000"/>
                <a:gridCol w="625225"/>
                <a:gridCol w="390775"/>
                <a:gridCol w="508000"/>
                <a:gridCol w="508000"/>
                <a:gridCol w="508000"/>
                <a:gridCol w="625225"/>
                <a:gridCol w="390775"/>
                <a:gridCol w="625225"/>
                <a:gridCol w="390775"/>
              </a:tblGrid>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12</a:t>
                      </a:r>
                      <a:endParaRPr sz="1100"/>
                    </a:p>
                  </a:txBody>
                  <a:tcPr marT="34300" marB="34300"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9</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8</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7</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1"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2/5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7/</a:t>
                      </a: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7/</a:t>
                      </a: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 </a:t>
                      </a:r>
                      <a:endParaRPr b="0" i="0" sz="1500" u="none" cap="none" strike="noStrike">
                        <a:solidFill>
                          <a:schemeClr val="lt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-3/5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-13/5</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lang="en" sz="1500">
                          <a:solidFill>
                            <a:schemeClr val="lt1"/>
                          </a:solidFil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7/5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-3/5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lang="en" sz="1500">
                          <a:solidFill>
                            <a:schemeClr val="lt1"/>
                          </a:solidFill>
                        </a:rPr>
                        <a:t>2/5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2/5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lang="en" sz="1500">
                          <a:solidFill>
                            <a:schemeClr val="dk1"/>
                          </a:solidFill>
                        </a:rPr>
                        <a:t>-8/5</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6</a:t>
                      </a:r>
                      <a:endParaRPr b="1" i="0" sz="1500" u="sng" cap="none" strike="noStrike">
                        <a:solidFill>
                          <a:srgbClr val="FF0000"/>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23" name="Google Shape;423;p53"/>
          <p:cNvSpPr txBox="1"/>
          <p:nvPr/>
        </p:nvSpPr>
        <p:spPr>
          <a:xfrm>
            <a:off x="4130675" y="857250"/>
            <a:ext cx="763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users</a:t>
            </a:r>
            <a:endParaRPr/>
          </a:p>
        </p:txBody>
      </p:sp>
      <p:sp>
        <p:nvSpPr>
          <p:cNvPr id="424" name="Google Shape;424;p53"/>
          <p:cNvSpPr txBox="1"/>
          <p:nvPr/>
        </p:nvSpPr>
        <p:spPr>
          <a:xfrm>
            <a:off x="1158875" y="4336703"/>
            <a:ext cx="32607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700">
                <a:solidFill>
                  <a:srgbClr val="0000FF"/>
                </a:solidFill>
                <a:latin typeface="Times New Roman"/>
                <a:ea typeface="Times New Roman"/>
                <a:cs typeface="Times New Roman"/>
                <a:sym typeface="Times New Roman"/>
              </a:rPr>
              <a:t>Neighbor selection:</a:t>
            </a:r>
            <a:br>
              <a:rPr lang="en" sz="1700">
                <a:solidFill>
                  <a:srgbClr val="0000FF"/>
                </a:solidFill>
                <a:latin typeface="Times New Roman"/>
                <a:ea typeface="Times New Roman"/>
                <a:cs typeface="Times New Roman"/>
                <a:sym typeface="Times New Roman"/>
              </a:rPr>
            </a:br>
            <a:r>
              <a:rPr lang="en" sz="1700">
                <a:solidFill>
                  <a:schemeClr val="dk1"/>
                </a:solidFill>
                <a:latin typeface="Times New Roman"/>
                <a:ea typeface="Times New Roman"/>
                <a:cs typeface="Times New Roman"/>
                <a:sym typeface="Times New Roman"/>
              </a:rPr>
              <a:t>Identify movies similar to </a:t>
            </a:r>
            <a:br>
              <a:rPr lang="en" sz="1700">
                <a:solidFill>
                  <a:schemeClr val="dk1"/>
                </a:solidFill>
                <a:latin typeface="Times New Roman"/>
                <a:ea typeface="Times New Roman"/>
                <a:cs typeface="Times New Roman"/>
                <a:sym typeface="Times New Roman"/>
              </a:rPr>
            </a:br>
            <a:r>
              <a:rPr lang="en" sz="1700">
                <a:solidFill>
                  <a:schemeClr val="dk1"/>
                </a:solidFill>
                <a:latin typeface="Times New Roman"/>
                <a:ea typeface="Times New Roman"/>
                <a:cs typeface="Times New Roman"/>
                <a:sym typeface="Times New Roman"/>
              </a:rPr>
              <a:t>movie </a:t>
            </a:r>
            <a:r>
              <a:rPr b="1" lang="en" sz="1700">
                <a:solidFill>
                  <a:schemeClr val="dk1"/>
                </a:solidFill>
                <a:latin typeface="Times New Roman"/>
                <a:ea typeface="Times New Roman"/>
                <a:cs typeface="Times New Roman"/>
                <a:sym typeface="Times New Roman"/>
              </a:rPr>
              <a:t>1</a:t>
            </a:r>
            <a:r>
              <a:rPr lang="en" sz="1700">
                <a:solidFill>
                  <a:schemeClr val="dk1"/>
                </a:solidFill>
                <a:latin typeface="Times New Roman"/>
                <a:ea typeface="Times New Roman"/>
                <a:cs typeface="Times New Roman"/>
                <a:sym typeface="Times New Roman"/>
              </a:rPr>
              <a:t>, </a:t>
            </a:r>
            <a:r>
              <a:rPr b="1" lang="en" sz="1700">
                <a:solidFill>
                  <a:schemeClr val="dk1"/>
                </a:solidFill>
                <a:latin typeface="Times New Roman"/>
                <a:ea typeface="Times New Roman"/>
                <a:cs typeface="Times New Roman"/>
                <a:sym typeface="Times New Roman"/>
              </a:rPr>
              <a:t>rated by user 5</a:t>
            </a:r>
            <a:endParaRPr sz="1300">
              <a:latin typeface="Times New Roman"/>
              <a:ea typeface="Times New Roman"/>
              <a:cs typeface="Times New Roman"/>
              <a:sym typeface="Times New Roman"/>
            </a:endParaRPr>
          </a:p>
        </p:txBody>
      </p:sp>
      <p:sp>
        <p:nvSpPr>
          <p:cNvPr id="425" name="Google Shape;425;p53"/>
          <p:cNvSpPr txBox="1"/>
          <p:nvPr/>
        </p:nvSpPr>
        <p:spPr>
          <a:xfrm rot="-5400000">
            <a:off x="276900" y="2428196"/>
            <a:ext cx="1065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movies</a:t>
            </a:r>
            <a:endParaRPr/>
          </a:p>
        </p:txBody>
      </p:sp>
      <p:sp>
        <p:nvSpPr>
          <p:cNvPr id="426" name="Google Shape;426;p53"/>
          <p:cNvSpPr txBox="1"/>
          <p:nvPr/>
        </p:nvSpPr>
        <p:spPr>
          <a:xfrm>
            <a:off x="4035675" y="4286250"/>
            <a:ext cx="5158200" cy="78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500">
                <a:solidFill>
                  <a:srgbClr val="008000"/>
                </a:solidFill>
                <a:latin typeface="Times New Roman"/>
                <a:ea typeface="Times New Roman"/>
                <a:cs typeface="Times New Roman"/>
                <a:sym typeface="Times New Roman"/>
              </a:rPr>
              <a:t>Here we use Pearson correlation as similarity:</a:t>
            </a:r>
            <a:endParaRPr sz="1600">
              <a:latin typeface="Times New Roman"/>
              <a:ea typeface="Times New Roman"/>
              <a:cs typeface="Times New Roman"/>
              <a:sym typeface="Times New Roman"/>
            </a:endParaRPr>
          </a:p>
          <a:p>
            <a:pPr indent="0" lvl="0" marL="0" marR="0" rtl="0" algn="l">
              <a:spcBef>
                <a:spcPts val="0"/>
              </a:spcBef>
              <a:spcAft>
                <a:spcPts val="0"/>
              </a:spcAft>
              <a:buNone/>
            </a:pPr>
            <a:r>
              <a:rPr b="1" lang="en" sz="1500">
                <a:solidFill>
                  <a:srgbClr val="008000"/>
                </a:solidFill>
                <a:latin typeface="Times New Roman"/>
                <a:ea typeface="Times New Roman"/>
                <a:cs typeface="Times New Roman"/>
                <a:sym typeface="Times New Roman"/>
              </a:rPr>
              <a:t>1)</a:t>
            </a:r>
            <a:r>
              <a:rPr lang="en" sz="1500">
                <a:solidFill>
                  <a:srgbClr val="008000"/>
                </a:solidFill>
                <a:latin typeface="Times New Roman"/>
                <a:ea typeface="Times New Roman"/>
                <a:cs typeface="Times New Roman"/>
                <a:sym typeface="Times New Roman"/>
              </a:rPr>
              <a:t> Subtract mean rating </a:t>
            </a:r>
            <a:r>
              <a:rPr b="1" i="1" lang="en" sz="1500">
                <a:solidFill>
                  <a:srgbClr val="008000"/>
                </a:solidFill>
                <a:latin typeface="Times New Roman"/>
                <a:ea typeface="Times New Roman"/>
                <a:cs typeface="Times New Roman"/>
                <a:sym typeface="Times New Roman"/>
              </a:rPr>
              <a:t>m</a:t>
            </a:r>
            <a:r>
              <a:rPr b="1" baseline="-25000" i="1" lang="en" sz="1500">
                <a:solidFill>
                  <a:srgbClr val="008000"/>
                </a:solidFill>
                <a:latin typeface="Times New Roman"/>
                <a:ea typeface="Times New Roman"/>
                <a:cs typeface="Times New Roman"/>
                <a:sym typeface="Times New Roman"/>
              </a:rPr>
              <a:t>i</a:t>
            </a:r>
            <a:r>
              <a:rPr lang="en" sz="1500">
                <a:solidFill>
                  <a:srgbClr val="008000"/>
                </a:solidFill>
                <a:latin typeface="Times New Roman"/>
                <a:ea typeface="Times New Roman"/>
                <a:cs typeface="Times New Roman"/>
                <a:sym typeface="Times New Roman"/>
              </a:rPr>
              <a:t> from each movie </a:t>
            </a:r>
            <a:r>
              <a:rPr b="1" i="1" lang="en" sz="1500">
                <a:solidFill>
                  <a:srgbClr val="008000"/>
                </a:solidFill>
                <a:latin typeface="Times New Roman"/>
                <a:ea typeface="Times New Roman"/>
                <a:cs typeface="Times New Roman"/>
                <a:sym typeface="Times New Roman"/>
              </a:rPr>
              <a:t>i</a:t>
            </a:r>
            <a:endParaRPr sz="1600">
              <a:latin typeface="Times New Roman"/>
              <a:ea typeface="Times New Roman"/>
              <a:cs typeface="Times New Roman"/>
              <a:sym typeface="Times New Roman"/>
            </a:endParaRPr>
          </a:p>
          <a:p>
            <a:pPr indent="0" lvl="0" marL="0" marR="0" rtl="0" algn="l">
              <a:spcBef>
                <a:spcPts val="0"/>
              </a:spcBef>
              <a:spcAft>
                <a:spcPts val="0"/>
              </a:spcAft>
              <a:buNone/>
            </a:pPr>
            <a:r>
              <a:rPr b="1" lang="en" sz="1500">
                <a:solidFill>
                  <a:srgbClr val="008000"/>
                </a:solidFill>
                <a:latin typeface="Times New Roman"/>
                <a:ea typeface="Times New Roman"/>
                <a:cs typeface="Times New Roman"/>
                <a:sym typeface="Times New Roman"/>
              </a:rPr>
              <a:t>2)</a:t>
            </a:r>
            <a:r>
              <a:rPr lang="en" sz="1500">
                <a:solidFill>
                  <a:srgbClr val="008000"/>
                </a:solidFill>
                <a:latin typeface="Times New Roman"/>
                <a:ea typeface="Times New Roman"/>
                <a:cs typeface="Times New Roman"/>
                <a:sym typeface="Times New Roman"/>
              </a:rPr>
              <a:t> Compute cosine similarities between rows</a:t>
            </a:r>
            <a:endParaRPr sz="1600">
              <a:latin typeface="Times New Roman"/>
              <a:ea typeface="Times New Roman"/>
              <a:cs typeface="Times New Roman"/>
              <a:sym typeface="Times New Roman"/>
            </a:endParaRPr>
          </a:p>
        </p:txBody>
      </p:sp>
      <p:sp>
        <p:nvSpPr>
          <p:cNvPr id="427" name="Google Shape;427;p53"/>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4"/>
          <p:cNvSpPr txBox="1"/>
          <p:nvPr>
            <p:ph type="title"/>
          </p:nvPr>
        </p:nvSpPr>
        <p:spPr>
          <a:xfrm>
            <a:off x="457200" y="0"/>
            <a:ext cx="8229600" cy="8574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Item-Item CF (|N|=2)</a:t>
            </a:r>
            <a:endParaRPr/>
          </a:p>
        </p:txBody>
      </p:sp>
      <p:sp>
        <p:nvSpPr>
          <p:cNvPr id="433" name="Google Shape;433;p54"/>
          <p:cNvSpPr txBox="1"/>
          <p:nvPr/>
        </p:nvSpPr>
        <p:spPr>
          <a:xfrm>
            <a:off x="4130675" y="857250"/>
            <a:ext cx="763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users</a:t>
            </a:r>
            <a:endParaRPr/>
          </a:p>
        </p:txBody>
      </p:sp>
      <p:sp>
        <p:nvSpPr>
          <p:cNvPr id="434" name="Google Shape;434;p54"/>
          <p:cNvSpPr txBox="1"/>
          <p:nvPr/>
        </p:nvSpPr>
        <p:spPr>
          <a:xfrm>
            <a:off x="1676400" y="4343400"/>
            <a:ext cx="32766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Times New Roman"/>
                <a:ea typeface="Times New Roman"/>
                <a:cs typeface="Times New Roman"/>
                <a:sym typeface="Times New Roman"/>
              </a:rPr>
              <a:t>Compute similarity weights:</a:t>
            </a:r>
            <a:br>
              <a:rPr lang="en" sz="1800">
                <a:solidFill>
                  <a:schemeClr val="dk1"/>
                </a:solidFill>
                <a:latin typeface="Times New Roman"/>
                <a:ea typeface="Times New Roman"/>
                <a:cs typeface="Times New Roman"/>
                <a:sym typeface="Times New Roman"/>
              </a:rPr>
            </a:br>
            <a:r>
              <a:rPr b="1" lang="en" sz="2000">
                <a:solidFill>
                  <a:srgbClr val="0000FF"/>
                </a:solidFill>
                <a:latin typeface="Times New Roman"/>
                <a:ea typeface="Times New Roman"/>
                <a:cs typeface="Times New Roman"/>
                <a:sym typeface="Times New Roman"/>
              </a:rPr>
              <a:t>s</a:t>
            </a:r>
            <a:r>
              <a:rPr b="1" baseline="-25000" lang="en" sz="2000">
                <a:solidFill>
                  <a:srgbClr val="0000FF"/>
                </a:solidFill>
                <a:latin typeface="Times New Roman"/>
                <a:ea typeface="Times New Roman"/>
                <a:cs typeface="Times New Roman"/>
                <a:sym typeface="Times New Roman"/>
              </a:rPr>
              <a:t>1,3</a:t>
            </a:r>
            <a:r>
              <a:rPr b="1" lang="en" sz="2000">
                <a:solidFill>
                  <a:srgbClr val="0000FF"/>
                </a:solidFill>
                <a:latin typeface="Times New Roman"/>
                <a:ea typeface="Times New Roman"/>
                <a:cs typeface="Times New Roman"/>
                <a:sym typeface="Times New Roman"/>
              </a:rPr>
              <a:t>=0.658, s</a:t>
            </a:r>
            <a:r>
              <a:rPr b="1" baseline="-25000" lang="en" sz="2000">
                <a:solidFill>
                  <a:srgbClr val="0000FF"/>
                </a:solidFill>
                <a:latin typeface="Times New Roman"/>
                <a:ea typeface="Times New Roman"/>
                <a:cs typeface="Times New Roman"/>
                <a:sym typeface="Times New Roman"/>
              </a:rPr>
              <a:t>1,6</a:t>
            </a:r>
            <a:r>
              <a:rPr b="1" lang="en" sz="2000">
                <a:solidFill>
                  <a:srgbClr val="0000FF"/>
                </a:solidFill>
                <a:latin typeface="Times New Roman"/>
                <a:ea typeface="Times New Roman"/>
                <a:cs typeface="Times New Roman"/>
                <a:sym typeface="Times New Roman"/>
              </a:rPr>
              <a:t>=0.768</a:t>
            </a:r>
            <a:endParaRPr b="1" sz="2000">
              <a:solidFill>
                <a:srgbClr val="0000FF"/>
              </a:solidFill>
              <a:latin typeface="Times New Roman"/>
              <a:ea typeface="Times New Roman"/>
              <a:cs typeface="Times New Roman"/>
              <a:sym typeface="Times New Roman"/>
            </a:endParaRPr>
          </a:p>
        </p:txBody>
      </p:sp>
      <p:sp>
        <p:nvSpPr>
          <p:cNvPr id="435" name="Google Shape;435;p54"/>
          <p:cNvSpPr txBox="1"/>
          <p:nvPr>
            <p:ph idx="12" type="sldNum"/>
          </p:nvPr>
        </p:nvSpPr>
        <p:spPr>
          <a:xfrm>
            <a:off x="8204396" y="3703320"/>
            <a:ext cx="733800" cy="154500"/>
          </a:xfrm>
          <a:prstGeom prst="rect">
            <a:avLst/>
          </a:prstGeom>
          <a:noFill/>
          <a:ln>
            <a:noFill/>
          </a:ln>
        </p:spPr>
        <p:txBody>
          <a:bodyPr anchorCtr="0" anchor="b" bIns="0" lIns="91425" spcFirstLastPara="1" rIns="91425" wrap="square" tIns="45700">
            <a:normAutofit fontScale="85000" lnSpcReduction="20000"/>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36" name="Google Shape;436;p54"/>
          <p:cNvSpPr txBox="1"/>
          <p:nvPr/>
        </p:nvSpPr>
        <p:spPr>
          <a:xfrm rot="-5400000">
            <a:off x="284875" y="2433120"/>
            <a:ext cx="1046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movies</a:t>
            </a:r>
            <a:endParaRPr/>
          </a:p>
        </p:txBody>
      </p:sp>
      <p:sp>
        <p:nvSpPr>
          <p:cNvPr id="437" name="Google Shape;437;p54"/>
          <p:cNvSpPr/>
          <p:nvPr/>
        </p:nvSpPr>
        <p:spPr>
          <a:xfrm>
            <a:off x="7858325" y="1143000"/>
            <a:ext cx="1236300" cy="3003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 sz="2000">
                <a:solidFill>
                  <a:srgbClr val="008000"/>
                </a:solidFill>
                <a:latin typeface="Times New Roman"/>
                <a:ea typeface="Times New Roman"/>
                <a:cs typeface="Times New Roman"/>
                <a:sym typeface="Times New Roman"/>
              </a:rPr>
              <a:t>sim(1,m)</a:t>
            </a:r>
            <a:endParaRPr>
              <a:latin typeface="Times New Roman"/>
              <a:ea typeface="Times New Roman"/>
              <a:cs typeface="Times New Roman"/>
              <a:sym typeface="Times New Roman"/>
            </a:endParaRPr>
          </a:p>
        </p:txBody>
      </p:sp>
      <p:graphicFrame>
        <p:nvGraphicFramePr>
          <p:cNvPr id="438" name="Google Shape;438;p54"/>
          <p:cNvGraphicFramePr/>
          <p:nvPr/>
        </p:nvGraphicFramePr>
        <p:xfrm>
          <a:off x="1311275" y="1358503"/>
          <a:ext cx="3000000" cy="3000000"/>
        </p:xfrm>
        <a:graphic>
          <a:graphicData uri="http://schemas.openxmlformats.org/drawingml/2006/table">
            <a:tbl>
              <a:tblPr>
                <a:noFill/>
                <a:tableStyleId>{31563634-6EFB-4475-A687-86A65893C6B7}</a:tableStyleId>
              </a:tblPr>
              <a:tblGrid>
                <a:gridCol w="508000"/>
                <a:gridCol w="508000"/>
                <a:gridCol w="508000"/>
                <a:gridCol w="508000"/>
                <a:gridCol w="508000"/>
                <a:gridCol w="508000"/>
                <a:gridCol w="508000"/>
                <a:gridCol w="508000"/>
                <a:gridCol w="508000"/>
                <a:gridCol w="508000"/>
                <a:gridCol w="508000"/>
                <a:gridCol w="508000"/>
                <a:gridCol w="508000"/>
              </a:tblGrid>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12</a:t>
                      </a:r>
                      <a:endParaRPr sz="1100"/>
                    </a:p>
                  </a:txBody>
                  <a:tcPr marT="34300" marB="34300"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9</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8</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7</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 </a:t>
                      </a:r>
                      <a:endParaRPr b="0" i="0" sz="1500" u="none" cap="none" strike="noStrike">
                        <a:solidFill>
                          <a:schemeClr val="lt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6</a:t>
                      </a:r>
                      <a:endParaRPr b="1" i="0" sz="1500" u="sng" cap="none" strike="noStrike">
                        <a:solidFill>
                          <a:srgbClr val="FF0000"/>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39" name="Google Shape;439;p54"/>
          <p:cNvSpPr txBox="1"/>
          <p:nvPr/>
        </p:nvSpPr>
        <p:spPr>
          <a:xfrm>
            <a:off x="7864475" y="1790700"/>
            <a:ext cx="898500" cy="2662800"/>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 sz="2000">
                <a:solidFill>
                  <a:srgbClr val="008000"/>
                </a:solidFill>
                <a:latin typeface="Times New Roman"/>
                <a:ea typeface="Times New Roman"/>
                <a:cs typeface="Times New Roman"/>
                <a:sym typeface="Times New Roman"/>
              </a:rPr>
              <a:t>1.00</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rPr b="1" lang="en" sz="2000" u="sng">
                <a:solidFill>
                  <a:srgbClr val="008000"/>
                </a:solidFill>
                <a:latin typeface="Times New Roman"/>
                <a:ea typeface="Times New Roman"/>
                <a:cs typeface="Times New Roman"/>
                <a:sym typeface="Times New Roman"/>
              </a:rPr>
              <a:t>0.658</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20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20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rPr b="1" lang="en" sz="2000" u="sng">
                <a:solidFill>
                  <a:srgbClr val="008000"/>
                </a:solidFill>
                <a:latin typeface="Times New Roman"/>
                <a:ea typeface="Times New Roman"/>
                <a:cs typeface="Times New Roman"/>
                <a:sym typeface="Times New Roman"/>
              </a:rPr>
              <a:t>0.768</a:t>
            </a:r>
            <a:endParaRPr>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5"/>
          <p:cNvSpPr txBox="1"/>
          <p:nvPr>
            <p:ph type="title"/>
          </p:nvPr>
        </p:nvSpPr>
        <p:spPr>
          <a:xfrm>
            <a:off x="457200" y="0"/>
            <a:ext cx="8229600" cy="8574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Item-Item CF (|N|=2)</a:t>
            </a:r>
            <a:endParaRPr/>
          </a:p>
        </p:txBody>
      </p:sp>
      <p:graphicFrame>
        <p:nvGraphicFramePr>
          <p:cNvPr id="445" name="Google Shape;445;p55"/>
          <p:cNvGraphicFramePr/>
          <p:nvPr/>
        </p:nvGraphicFramePr>
        <p:xfrm>
          <a:off x="1143000" y="1206103"/>
          <a:ext cx="3000000" cy="3000000"/>
        </p:xfrm>
        <a:graphic>
          <a:graphicData uri="http://schemas.openxmlformats.org/drawingml/2006/table">
            <a:tbl>
              <a:tblPr>
                <a:noFill/>
                <a:tableStyleId>{31563634-6EFB-4475-A687-86A65893C6B7}</a:tableStyleId>
              </a:tblPr>
              <a:tblGrid>
                <a:gridCol w="508000"/>
                <a:gridCol w="508000"/>
                <a:gridCol w="508000"/>
                <a:gridCol w="508000"/>
                <a:gridCol w="508000"/>
                <a:gridCol w="508000"/>
                <a:gridCol w="508000"/>
                <a:gridCol w="533400"/>
                <a:gridCol w="482600"/>
                <a:gridCol w="508000"/>
                <a:gridCol w="508000"/>
                <a:gridCol w="508000"/>
                <a:gridCol w="508000"/>
              </a:tblGrid>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12</a:t>
                      </a:r>
                      <a:endParaRPr sz="1100"/>
                    </a:p>
                  </a:txBody>
                  <a:tcPr marT="34300" marB="34300"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10</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9</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8</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7</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lt1"/>
                        </a:buClr>
                        <a:buSzPts val="1400"/>
                        <a:buFont typeface="Arial"/>
                        <a:buNone/>
                      </a:pPr>
                      <a:r>
                        <a:rPr b="1" i="0" lang="en" sz="1400" u="none" cap="none" strike="noStrike">
                          <a:solidFill>
                            <a:schemeClr val="lt1"/>
                          </a:solidFill>
                          <a:latin typeface="Arial"/>
                          <a:ea typeface="Arial"/>
                          <a:cs typeface="Arial"/>
                          <a:sym typeface="Arial"/>
                        </a:rPr>
                        <a:t>2.6</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3</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5</a:t>
                      </a:r>
                      <a:endParaRPr sz="1100"/>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4600">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4</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2</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500"/>
                        <a:buFont typeface="Arial"/>
                        <a:buNone/>
                      </a:pPr>
                      <a:r>
                        <a:rPr b="0" i="0" lang="en" sz="1500" u="none" cap="none" strike="noStrike">
                          <a:solidFill>
                            <a:schemeClr val="lt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0000"/>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3</a:t>
                      </a:r>
                      <a:endParaRPr sz="1100"/>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chemeClr val="dk1"/>
                        </a:buClr>
                        <a:buSzPts val="1500"/>
                        <a:buFont typeface="Corbel"/>
                        <a:buNone/>
                      </a:pPr>
                      <a:r>
                        <a:t/>
                      </a:r>
                      <a:endParaRPr b="0" i="0" sz="1500" u="none" cap="none" strike="noStrike">
                        <a:solidFill>
                          <a:schemeClr val="dk1"/>
                        </a:solidFill>
                        <a:latin typeface="Arial"/>
                        <a:ea typeface="Arial"/>
                        <a:cs typeface="Arial"/>
                        <a:sym typeface="Aria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Arial"/>
                        <a:buNone/>
                      </a:pPr>
                      <a:r>
                        <a:rPr b="0" i="0" lang="en" sz="1500" u="none" cap="none" strike="noStrike">
                          <a:solidFill>
                            <a:schemeClr val="dk1"/>
                          </a:solidFill>
                          <a:latin typeface="Arial"/>
                          <a:ea typeface="Arial"/>
                          <a:cs typeface="Arial"/>
                          <a:sym typeface="Arial"/>
                        </a:rPr>
                        <a:t>1</a:t>
                      </a:r>
                      <a:endParaRPr sz="1100"/>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CF604"/>
                    </a:solidFill>
                  </a:tcPr>
                </a:tc>
                <a:tc>
                  <a:txBody>
                    <a:bodyPr/>
                    <a:lstStyle/>
                    <a:p>
                      <a:pPr indent="0" lvl="0" marL="0" marR="0" rtl="0" algn="l">
                        <a:lnSpc>
                          <a:spcPct val="100000"/>
                        </a:lnSpc>
                        <a:spcBef>
                          <a:spcPts val="0"/>
                        </a:spcBef>
                        <a:spcAft>
                          <a:spcPts val="0"/>
                        </a:spcAft>
                        <a:buClr>
                          <a:srgbClr val="FF0000"/>
                        </a:buClr>
                        <a:buSzPts val="1500"/>
                        <a:buFont typeface="Arial"/>
                        <a:buNone/>
                      </a:pPr>
                      <a:r>
                        <a:rPr b="1" i="0" lang="en" sz="1500" u="sng" cap="none" strike="noStrike">
                          <a:solidFill>
                            <a:srgbClr val="FF0000"/>
                          </a:solidFill>
                          <a:latin typeface="Arial"/>
                          <a:ea typeface="Arial"/>
                          <a:cs typeface="Arial"/>
                          <a:sym typeface="Arial"/>
                        </a:rPr>
                        <a:t>6</a:t>
                      </a:r>
                      <a:endParaRPr b="1" i="0" sz="1500" u="sng" cap="none" strike="noStrike">
                        <a:solidFill>
                          <a:srgbClr val="FF0000"/>
                        </a:solidFill>
                        <a:latin typeface="Arial"/>
                        <a:ea typeface="Arial"/>
                        <a:cs typeface="Arial"/>
                        <a:sym typeface="Arial"/>
                      </a:endParaRPr>
                    </a:p>
                  </a:txBody>
                  <a:tcPr marT="34300" marB="34300" marR="91450" marL="91450">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6" name="Google Shape;446;p55"/>
          <p:cNvSpPr txBox="1"/>
          <p:nvPr/>
        </p:nvSpPr>
        <p:spPr>
          <a:xfrm>
            <a:off x="4114800" y="857250"/>
            <a:ext cx="763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users</a:t>
            </a:r>
            <a:endParaRPr/>
          </a:p>
        </p:txBody>
      </p:sp>
      <p:sp>
        <p:nvSpPr>
          <p:cNvPr id="447" name="Google Shape;447;p55"/>
          <p:cNvSpPr txBox="1"/>
          <p:nvPr/>
        </p:nvSpPr>
        <p:spPr>
          <a:xfrm>
            <a:off x="1600200" y="4286250"/>
            <a:ext cx="5433600" cy="80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Times New Roman"/>
                <a:ea typeface="Times New Roman"/>
                <a:cs typeface="Times New Roman"/>
                <a:sym typeface="Times New Roman"/>
              </a:rPr>
              <a:t>Predict by taking weighted average:</a:t>
            </a:r>
            <a:endParaRPr>
              <a:latin typeface="Times New Roman"/>
              <a:ea typeface="Times New Roman"/>
              <a:cs typeface="Times New Roman"/>
              <a:sym typeface="Times New Roman"/>
            </a:endParaRPr>
          </a:p>
          <a:p>
            <a:pPr indent="0" lvl="0" marL="0" marR="0" rtl="0" algn="l">
              <a:spcBef>
                <a:spcPts val="1000"/>
              </a:spcBef>
              <a:spcAft>
                <a:spcPts val="0"/>
              </a:spcAft>
              <a:buNone/>
            </a:pPr>
            <a:r>
              <a:rPr b="1" lang="en" sz="1800">
                <a:solidFill>
                  <a:schemeClr val="dk1"/>
                </a:solidFill>
                <a:latin typeface="Times New Roman"/>
                <a:ea typeface="Times New Roman"/>
                <a:cs typeface="Times New Roman"/>
                <a:sym typeface="Times New Roman"/>
              </a:rPr>
              <a:t>r</a:t>
            </a:r>
            <a:r>
              <a:rPr b="1" baseline="-25000" lang="en" sz="1800">
                <a:solidFill>
                  <a:schemeClr val="dk1"/>
                </a:solidFill>
                <a:latin typeface="Times New Roman"/>
                <a:ea typeface="Times New Roman"/>
                <a:cs typeface="Times New Roman"/>
                <a:sym typeface="Times New Roman"/>
              </a:rPr>
              <a:t>1.5 </a:t>
            </a:r>
            <a:r>
              <a:rPr b="1" lang="en" sz="1800">
                <a:solidFill>
                  <a:schemeClr val="dk1"/>
                </a:solidFill>
                <a:latin typeface="Times New Roman"/>
                <a:ea typeface="Times New Roman"/>
                <a:cs typeface="Times New Roman"/>
                <a:sym typeface="Times New Roman"/>
              </a:rPr>
              <a:t>= </a:t>
            </a:r>
            <a:r>
              <a:rPr b="1" lang="en" sz="2000">
                <a:solidFill>
                  <a:srgbClr val="0000FF"/>
                </a:solidFill>
                <a:latin typeface="Times New Roman"/>
                <a:ea typeface="Times New Roman"/>
                <a:cs typeface="Times New Roman"/>
                <a:sym typeface="Times New Roman"/>
              </a:rPr>
              <a:t>(0.658*2 + 0.768*3) / (0.658+0.768) = 2.54</a:t>
            </a:r>
            <a:endParaRPr b="1" sz="2000">
              <a:solidFill>
                <a:srgbClr val="0000FF"/>
              </a:solidFill>
              <a:latin typeface="Times New Roman"/>
              <a:ea typeface="Times New Roman"/>
              <a:cs typeface="Times New Roman"/>
              <a:sym typeface="Times New Roman"/>
            </a:endParaRPr>
          </a:p>
        </p:txBody>
      </p:sp>
      <p:sp>
        <p:nvSpPr>
          <p:cNvPr id="448" name="Google Shape;448;p55"/>
          <p:cNvSpPr txBox="1"/>
          <p:nvPr>
            <p:ph idx="12" type="sldNum"/>
          </p:nvPr>
        </p:nvSpPr>
        <p:spPr>
          <a:xfrm>
            <a:off x="8204396" y="3703320"/>
            <a:ext cx="733800" cy="154500"/>
          </a:xfrm>
          <a:prstGeom prst="rect">
            <a:avLst/>
          </a:prstGeom>
          <a:noFill/>
          <a:ln>
            <a:noFill/>
          </a:ln>
        </p:spPr>
        <p:txBody>
          <a:bodyPr anchorCtr="0" anchor="b" bIns="0" lIns="91425" spcFirstLastPara="1" rIns="91425" wrap="square" tIns="45700">
            <a:normAutofit fontScale="85000" lnSpcReduction="20000"/>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9" name="Google Shape;449;p55"/>
          <p:cNvSpPr txBox="1"/>
          <p:nvPr/>
        </p:nvSpPr>
        <p:spPr>
          <a:xfrm rot="-5400000">
            <a:off x="248275" y="2396519"/>
            <a:ext cx="1119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008000"/>
                </a:solidFill>
                <a:latin typeface="Corbel"/>
                <a:ea typeface="Corbel"/>
                <a:cs typeface="Corbel"/>
                <a:sym typeface="Corbel"/>
              </a:rPr>
              <a:t>movies</a:t>
            </a:r>
            <a:endParaRPr/>
          </a:p>
        </p:txBody>
      </p:sp>
      <p:sp>
        <p:nvSpPr>
          <p:cNvPr id="450" name="Google Shape;450;p55"/>
          <p:cNvSpPr txBox="1"/>
          <p:nvPr/>
        </p:nvSpPr>
        <p:spPr>
          <a:xfrm>
            <a:off x="6498789" y="4325503"/>
            <a:ext cx="2645100" cy="6030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Corbel"/>
                <a:ea typeface="Corbel"/>
                <a:cs typeface="Corbel"/>
                <a:sym typeface="Corbel"/>
              </a:rPr>
              <a:t> </a:t>
            </a:r>
            <a:endParaRPr/>
          </a:p>
        </p:txBody>
      </p:sp>
      <p:sp>
        <p:nvSpPr>
          <p:cNvPr id="451" name="Google Shape;451;p55"/>
          <p:cNvSpPr txBox="1"/>
          <p:nvPr/>
        </p:nvSpPr>
        <p:spPr>
          <a:xfrm>
            <a:off x="7788275" y="1562100"/>
            <a:ext cx="898500" cy="2662800"/>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 sz="2000">
                <a:solidFill>
                  <a:srgbClr val="008000"/>
                </a:solidFill>
                <a:latin typeface="Times New Roman"/>
                <a:ea typeface="Times New Roman"/>
                <a:cs typeface="Times New Roman"/>
                <a:sym typeface="Times New Roman"/>
              </a:rPr>
              <a:t>1.00</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rPr b="1" lang="en" sz="2000" u="sng">
                <a:solidFill>
                  <a:srgbClr val="008000"/>
                </a:solidFill>
                <a:latin typeface="Times New Roman"/>
                <a:ea typeface="Times New Roman"/>
                <a:cs typeface="Times New Roman"/>
                <a:sym typeface="Times New Roman"/>
              </a:rPr>
              <a:t>0.658</a:t>
            </a:r>
            <a:endParaRPr b="1" sz="18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20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t/>
            </a:r>
            <a:endParaRPr b="1" sz="2000">
              <a:solidFill>
                <a:srgbClr val="008000"/>
              </a:solidFill>
              <a:latin typeface="Times New Roman"/>
              <a:ea typeface="Times New Roman"/>
              <a:cs typeface="Times New Roman"/>
              <a:sym typeface="Times New Roman"/>
            </a:endParaRPr>
          </a:p>
          <a:p>
            <a:pPr indent="0" lvl="0" marL="0" marR="0" rtl="0" algn="r">
              <a:lnSpc>
                <a:spcPct val="150000"/>
              </a:lnSpc>
              <a:spcBef>
                <a:spcPts val="0"/>
              </a:spcBef>
              <a:spcAft>
                <a:spcPts val="0"/>
              </a:spcAft>
              <a:buNone/>
            </a:pPr>
            <a:r>
              <a:rPr b="1" lang="en" sz="2000" u="sng">
                <a:solidFill>
                  <a:srgbClr val="008000"/>
                </a:solidFill>
                <a:latin typeface="Times New Roman"/>
                <a:ea typeface="Times New Roman"/>
                <a:cs typeface="Times New Roman"/>
                <a:sym typeface="Times New Roman"/>
              </a:rPr>
              <a:t>0.768</a:t>
            </a:r>
            <a:endParaRPr>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6"/>
          <p:cNvSpPr txBox="1"/>
          <p:nvPr>
            <p:ph type="title"/>
          </p:nvPr>
        </p:nvSpPr>
        <p:spPr>
          <a:xfrm>
            <a:off x="457200" y="57150"/>
            <a:ext cx="8229600" cy="740700"/>
          </a:xfrm>
          <a:prstGeom prst="rect">
            <a:avLst/>
          </a:prstGeom>
        </p:spPr>
        <p:txBody>
          <a:bodyPr anchorCtr="0" anchor="ctr" bIns="45700" lIns="91425" spcFirstLastPara="1" rIns="45700" wrap="square" tIns="45700">
            <a:normAutofit/>
          </a:bodyPr>
          <a:lstStyle/>
          <a:p>
            <a:pPr indent="0" lvl="0" marL="0" rtl="0" algn="l">
              <a:spcBef>
                <a:spcPts val="0"/>
              </a:spcBef>
              <a:spcAft>
                <a:spcPts val="0"/>
              </a:spcAft>
              <a:buNone/>
            </a:pPr>
            <a:r>
              <a:rPr lang="en"/>
              <a:t>C</a:t>
            </a:r>
            <a:r>
              <a:rPr lang="en"/>
              <a:t>ollaborative filtering </a:t>
            </a:r>
            <a:endParaRPr/>
          </a:p>
        </p:txBody>
      </p:sp>
      <p:sp>
        <p:nvSpPr>
          <p:cNvPr id="457" name="Google Shape;457;p56"/>
          <p:cNvSpPr txBox="1"/>
          <p:nvPr>
            <p:ph idx="1" type="body"/>
          </p:nvPr>
        </p:nvSpPr>
        <p:spPr>
          <a:xfrm>
            <a:off x="457200" y="971550"/>
            <a:ext cx="8229600" cy="3943200"/>
          </a:xfrm>
          <a:prstGeom prst="rect">
            <a:avLst/>
          </a:prstGeom>
        </p:spPr>
        <p:txBody>
          <a:bodyPr anchorCtr="0" anchor="t" bIns="45700" lIns="54850" spcFirstLastPara="1" rIns="91425" wrap="square" tIns="91425">
            <a:normAutofit/>
          </a:bodyPr>
          <a:lstStyle/>
          <a:p>
            <a:pPr indent="0" lvl="0" marL="0" rtl="0" algn="l">
              <a:spcBef>
                <a:spcPts val="0"/>
              </a:spcBef>
              <a:spcAft>
                <a:spcPts val="0"/>
              </a:spcAft>
              <a:buNone/>
            </a:pPr>
            <a:r>
              <a:rPr lang="en"/>
              <a:t>In practice, it has been observed that item-item often works better than user-user</a:t>
            </a:r>
            <a:endParaRPr/>
          </a:p>
          <a:p>
            <a:pPr indent="0" lvl="0" marL="0" rtl="0" algn="l">
              <a:spcBef>
                <a:spcPts val="0"/>
              </a:spcBef>
              <a:spcAft>
                <a:spcPts val="0"/>
              </a:spcAft>
              <a:buNone/>
            </a:pPr>
            <a:r>
              <a:rPr lang="en"/>
              <a:t>Why? </a:t>
            </a:r>
            <a:endParaRPr/>
          </a:p>
          <a:p>
            <a:pPr indent="457200" lvl="0" marL="0" rtl="0" algn="l">
              <a:spcBef>
                <a:spcPts val="0"/>
              </a:spcBef>
              <a:spcAft>
                <a:spcPts val="0"/>
              </a:spcAft>
              <a:buNone/>
            </a:pPr>
            <a:r>
              <a:rPr lang="en"/>
              <a:t>Items are simpler, users have multiple tastes</a:t>
            </a:r>
            <a:endParaRPr/>
          </a:p>
          <a:p>
            <a:pPr indent="457200" lvl="0" marL="0" rtl="0" algn="l">
              <a:spcBef>
                <a:spcPts val="0"/>
              </a:spcBef>
              <a:spcAft>
                <a:spcPts val="0"/>
              </a:spcAft>
              <a:buNone/>
            </a:pPr>
            <a:r>
              <a:rPr lang="en"/>
              <a:t>People are more complex than objects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58" name="Google Shape;458;p56"/>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7"/>
          <p:cNvSpPr txBox="1"/>
          <p:nvPr>
            <p:ph type="title"/>
          </p:nvPr>
        </p:nvSpPr>
        <p:spPr>
          <a:xfrm>
            <a:off x="457200" y="57150"/>
            <a:ext cx="8229600" cy="740700"/>
          </a:xfrm>
          <a:prstGeom prst="rect">
            <a:avLst/>
          </a:prstGeom>
        </p:spPr>
        <p:txBody>
          <a:bodyPr anchorCtr="0" anchor="ctr" bIns="45700" lIns="91425" spcFirstLastPara="1" rIns="45700" wrap="square" tIns="45700">
            <a:normAutofit/>
          </a:bodyPr>
          <a:lstStyle/>
          <a:p>
            <a:pPr indent="0" lvl="0" marL="0" rtl="0" algn="l">
              <a:spcBef>
                <a:spcPts val="0"/>
              </a:spcBef>
              <a:spcAft>
                <a:spcPts val="0"/>
              </a:spcAft>
              <a:buNone/>
            </a:pPr>
            <a:r>
              <a:rPr lang="en"/>
              <a:t>Collaborative filtering </a:t>
            </a:r>
            <a:endParaRPr/>
          </a:p>
        </p:txBody>
      </p:sp>
      <p:sp>
        <p:nvSpPr>
          <p:cNvPr id="464" name="Google Shape;464;p57"/>
          <p:cNvSpPr txBox="1"/>
          <p:nvPr>
            <p:ph idx="1" type="body"/>
          </p:nvPr>
        </p:nvSpPr>
        <p:spPr>
          <a:xfrm>
            <a:off x="457200" y="971550"/>
            <a:ext cx="8229600" cy="3943200"/>
          </a:xfrm>
          <a:prstGeom prst="rect">
            <a:avLst/>
          </a:prstGeom>
        </p:spPr>
        <p:txBody>
          <a:bodyPr anchorCtr="0" anchor="t" bIns="45700" lIns="54850" spcFirstLastPara="1" rIns="91425" wrap="square" tIns="91425">
            <a:normAutofit fontScale="92500" lnSpcReduction="20000"/>
          </a:bodyPr>
          <a:lstStyle/>
          <a:p>
            <a:pPr indent="0" lvl="0" marL="0" rtl="0" algn="l">
              <a:spcBef>
                <a:spcPts val="0"/>
              </a:spcBef>
              <a:spcAft>
                <a:spcPts val="0"/>
              </a:spcAft>
              <a:buNone/>
            </a:pPr>
            <a:r>
              <a:rPr b="1" lang="en"/>
              <a:t>Pros/Cons of Collaborative Filtering</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 Works for any kind of item</a:t>
            </a:r>
            <a:endParaRPr/>
          </a:p>
          <a:p>
            <a:pPr indent="457200" lvl="0" marL="0" rtl="0" algn="l">
              <a:spcBef>
                <a:spcPts val="0"/>
              </a:spcBef>
              <a:spcAft>
                <a:spcPts val="0"/>
              </a:spcAft>
              <a:buNone/>
            </a:pPr>
            <a:r>
              <a:rPr lang="en"/>
              <a:t>No feature selection needed</a:t>
            </a:r>
            <a:endParaRPr/>
          </a:p>
          <a:p>
            <a:pPr indent="0" lvl="0" marL="0" rtl="0" algn="l">
              <a:spcBef>
                <a:spcPts val="0"/>
              </a:spcBef>
              <a:spcAft>
                <a:spcPts val="0"/>
              </a:spcAft>
              <a:buNone/>
            </a:pPr>
            <a:r>
              <a:rPr lang="en"/>
              <a:t>- Cold Start:</a:t>
            </a:r>
            <a:endParaRPr/>
          </a:p>
          <a:p>
            <a:pPr indent="457200" lvl="0" marL="0" rtl="0" algn="l">
              <a:spcBef>
                <a:spcPts val="0"/>
              </a:spcBef>
              <a:spcAft>
                <a:spcPts val="0"/>
              </a:spcAft>
              <a:buNone/>
            </a:pPr>
            <a:r>
              <a:rPr lang="en"/>
              <a:t>Need enough users in the system to find a match</a:t>
            </a:r>
            <a:endParaRPr/>
          </a:p>
          <a:p>
            <a:pPr indent="0" lvl="0" marL="0" rtl="0" algn="l">
              <a:spcBef>
                <a:spcPts val="0"/>
              </a:spcBef>
              <a:spcAft>
                <a:spcPts val="0"/>
              </a:spcAft>
              <a:buNone/>
            </a:pPr>
            <a:r>
              <a:rPr lang="en"/>
              <a:t>- Sparsity: </a:t>
            </a:r>
            <a:endParaRPr/>
          </a:p>
          <a:p>
            <a:pPr indent="457200" lvl="0" marL="0" rtl="0" algn="l">
              <a:spcBef>
                <a:spcPts val="0"/>
              </a:spcBef>
              <a:spcAft>
                <a:spcPts val="0"/>
              </a:spcAft>
              <a:buNone/>
            </a:pPr>
            <a:r>
              <a:rPr lang="en"/>
              <a:t>The user/ratings matrix is sparse</a:t>
            </a:r>
            <a:endParaRPr/>
          </a:p>
          <a:p>
            <a:pPr indent="457200" lvl="0" marL="0" rtl="0" algn="l">
              <a:spcBef>
                <a:spcPts val="0"/>
              </a:spcBef>
              <a:spcAft>
                <a:spcPts val="0"/>
              </a:spcAft>
              <a:buNone/>
            </a:pPr>
            <a:r>
              <a:rPr lang="en"/>
              <a:t>Hard to find users that have rated the same items</a:t>
            </a:r>
            <a:endParaRPr/>
          </a:p>
          <a:p>
            <a:pPr indent="0" lvl="0" marL="0" rtl="0" algn="l">
              <a:spcBef>
                <a:spcPts val="0"/>
              </a:spcBef>
              <a:spcAft>
                <a:spcPts val="0"/>
              </a:spcAft>
              <a:buNone/>
            </a:pPr>
            <a:r>
              <a:rPr lang="en"/>
              <a:t>- First rater: </a:t>
            </a:r>
            <a:endParaRPr/>
          </a:p>
          <a:p>
            <a:pPr indent="457200" lvl="0" marL="0" rtl="0" algn="l">
              <a:spcBef>
                <a:spcPts val="0"/>
              </a:spcBef>
              <a:spcAft>
                <a:spcPts val="0"/>
              </a:spcAft>
              <a:buNone/>
            </a:pPr>
            <a:r>
              <a:rPr lang="en"/>
              <a:t>Cannot recommend an item that has not been  previously rated</a:t>
            </a:r>
            <a:endParaRPr/>
          </a:p>
          <a:p>
            <a:pPr indent="457200" lvl="0" marL="0" rtl="0" algn="l">
              <a:spcBef>
                <a:spcPts val="0"/>
              </a:spcBef>
              <a:spcAft>
                <a:spcPts val="0"/>
              </a:spcAft>
              <a:buNone/>
            </a:pPr>
            <a:r>
              <a:rPr lang="en"/>
              <a:t>New items, Esoteric items</a:t>
            </a:r>
            <a:endParaRPr/>
          </a:p>
          <a:p>
            <a:pPr indent="0" lvl="0" marL="0" rtl="0" algn="l">
              <a:spcBef>
                <a:spcPts val="0"/>
              </a:spcBef>
              <a:spcAft>
                <a:spcPts val="0"/>
              </a:spcAft>
              <a:buNone/>
            </a:pPr>
            <a:r>
              <a:rPr lang="en"/>
              <a:t>- Popularity bias: </a:t>
            </a:r>
            <a:endParaRPr/>
          </a:p>
          <a:p>
            <a:pPr indent="457200" lvl="0" marL="0" rtl="0" algn="l">
              <a:spcBef>
                <a:spcPts val="0"/>
              </a:spcBef>
              <a:spcAft>
                <a:spcPts val="0"/>
              </a:spcAft>
              <a:buNone/>
            </a:pPr>
            <a:r>
              <a:rPr lang="en"/>
              <a:t>Cannot recommend items to someone with  unique taste </a:t>
            </a:r>
            <a:endParaRPr/>
          </a:p>
          <a:p>
            <a:pPr indent="457200" lvl="0" marL="0" rtl="0" algn="l">
              <a:spcBef>
                <a:spcPts val="0"/>
              </a:spcBef>
              <a:spcAft>
                <a:spcPts val="0"/>
              </a:spcAft>
              <a:buNone/>
            </a:pPr>
            <a:r>
              <a:rPr lang="en"/>
              <a:t>Tends to recommend popular items</a:t>
            </a:r>
            <a:endParaRPr/>
          </a:p>
        </p:txBody>
      </p:sp>
      <p:sp>
        <p:nvSpPr>
          <p:cNvPr id="465" name="Google Shape;465;p57"/>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457200" y="57150"/>
            <a:ext cx="8229600" cy="740700"/>
          </a:xfrm>
          <a:prstGeom prst="rect">
            <a:avLst/>
          </a:prstGeom>
        </p:spPr>
        <p:txBody>
          <a:bodyPr anchorCtr="0" anchor="ctr" bIns="45700" lIns="91425" spcFirstLastPara="1" rIns="45700" wrap="square" tIns="45700">
            <a:normAutofit/>
          </a:bodyPr>
          <a:lstStyle/>
          <a:p>
            <a:pPr indent="0" lvl="0" marL="0" rtl="0" algn="l">
              <a:spcBef>
                <a:spcPts val="0"/>
              </a:spcBef>
              <a:spcAft>
                <a:spcPts val="0"/>
              </a:spcAft>
              <a:buNone/>
            </a:pPr>
            <a:r>
              <a:rPr lang="en"/>
              <a:t>Hybrid Methods</a:t>
            </a:r>
            <a:endParaRPr/>
          </a:p>
        </p:txBody>
      </p:sp>
      <p:sp>
        <p:nvSpPr>
          <p:cNvPr id="471" name="Google Shape;471;p58"/>
          <p:cNvSpPr txBox="1"/>
          <p:nvPr>
            <p:ph idx="1" type="body"/>
          </p:nvPr>
        </p:nvSpPr>
        <p:spPr>
          <a:xfrm>
            <a:off x="457200" y="971550"/>
            <a:ext cx="8229600" cy="3943200"/>
          </a:xfrm>
          <a:prstGeom prst="rect">
            <a:avLst/>
          </a:prstGeom>
        </p:spPr>
        <p:txBody>
          <a:bodyPr anchorCtr="0" anchor="t" bIns="45700" lIns="54850" spcFirstLastPara="1" rIns="91425" wrap="square" tIns="91425">
            <a:normAutofit/>
          </a:bodyPr>
          <a:lstStyle/>
          <a:p>
            <a:pPr indent="-320040" lvl="0" marL="457200" rtl="0" algn="l">
              <a:spcBef>
                <a:spcPts val="0"/>
              </a:spcBef>
              <a:spcAft>
                <a:spcPts val="0"/>
              </a:spcAft>
              <a:buSzPts val="1440"/>
              <a:buChar char="●"/>
            </a:pPr>
            <a:r>
              <a:rPr lang="en"/>
              <a:t>Implement two or more different recommenders and combine predictions</a:t>
            </a:r>
            <a:endParaRPr/>
          </a:p>
          <a:p>
            <a:pPr indent="-342900" lvl="1" marL="914400" rtl="0" algn="l">
              <a:spcBef>
                <a:spcPts val="0"/>
              </a:spcBef>
              <a:spcAft>
                <a:spcPts val="0"/>
              </a:spcAft>
              <a:buSzPts val="1800"/>
              <a:buChar char="○"/>
            </a:pPr>
            <a:r>
              <a:rPr lang="en"/>
              <a:t>Perhaps using a linear model</a:t>
            </a:r>
            <a:endParaRPr/>
          </a:p>
          <a:p>
            <a:pPr indent="0" lvl="0" marL="457200" rtl="0" algn="l">
              <a:spcBef>
                <a:spcPts val="0"/>
              </a:spcBef>
              <a:spcAft>
                <a:spcPts val="0"/>
              </a:spcAft>
              <a:buNone/>
            </a:pPr>
            <a:r>
              <a:t/>
            </a:r>
            <a:endParaRPr/>
          </a:p>
          <a:p>
            <a:pPr indent="-320040" lvl="0" marL="457200" rtl="0" algn="l">
              <a:spcBef>
                <a:spcPts val="0"/>
              </a:spcBef>
              <a:spcAft>
                <a:spcPts val="0"/>
              </a:spcAft>
              <a:buSzPts val="1440"/>
              <a:buChar char="●"/>
            </a:pPr>
            <a:r>
              <a:rPr lang="en"/>
              <a:t>Add content-based methods to collaborative filtering</a:t>
            </a:r>
            <a:endParaRPr/>
          </a:p>
          <a:p>
            <a:pPr indent="-342900" lvl="1" marL="914400" rtl="0" algn="l">
              <a:spcBef>
                <a:spcPts val="0"/>
              </a:spcBef>
              <a:spcAft>
                <a:spcPts val="0"/>
              </a:spcAft>
              <a:buSzPts val="1800"/>
              <a:buChar char="○"/>
            </a:pPr>
            <a:r>
              <a:rPr lang="en"/>
              <a:t>Item profiles for new item problem</a:t>
            </a:r>
            <a:endParaRPr/>
          </a:p>
          <a:p>
            <a:pPr indent="-342900" lvl="1" marL="914400" rtl="0" algn="l">
              <a:spcBef>
                <a:spcPts val="0"/>
              </a:spcBef>
              <a:spcAft>
                <a:spcPts val="0"/>
              </a:spcAft>
              <a:buSzPts val="1800"/>
              <a:buChar char="○"/>
            </a:pPr>
            <a:r>
              <a:rPr lang="en"/>
              <a:t>Demographics to deal with new user problem</a:t>
            </a:r>
            <a:endParaRPr/>
          </a:p>
        </p:txBody>
      </p:sp>
      <p:sp>
        <p:nvSpPr>
          <p:cNvPr id="472" name="Google Shape;472;p58"/>
          <p:cNvSpPr txBox="1"/>
          <p:nvPr>
            <p:ph idx="12" type="sldNum"/>
          </p:nvPr>
        </p:nvSpPr>
        <p:spPr>
          <a:xfrm>
            <a:off x="8204396" y="4937760"/>
            <a:ext cx="733800" cy="205800"/>
          </a:xfrm>
          <a:prstGeom prst="rect">
            <a:avLst/>
          </a:prstGeom>
        </p:spPr>
        <p:txBody>
          <a:bodyPr anchorCtr="0" anchor="b" bIns="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9"/>
          <p:cNvSpPr txBox="1"/>
          <p:nvPr>
            <p:ph type="title"/>
          </p:nvPr>
        </p:nvSpPr>
        <p:spPr>
          <a:xfrm>
            <a:off x="311700" y="21214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Remarks &amp; Practical Tips</a:t>
            </a:r>
            <a:endParaRPr/>
          </a:p>
        </p:txBody>
      </p:sp>
      <p:sp>
        <p:nvSpPr>
          <p:cNvPr id="478" name="Google Shape;478;p59"/>
          <p:cNvSpPr txBox="1"/>
          <p:nvPr>
            <p:ph idx="1" type="body"/>
          </p:nvPr>
        </p:nvSpPr>
        <p:spPr>
          <a:xfrm>
            <a:off x="311700" y="2917550"/>
            <a:ext cx="8520600" cy="165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Evaluation</a:t>
            </a:r>
            <a:endParaRPr/>
          </a:p>
          <a:p>
            <a:pPr indent="0" lvl="0" marL="0" rtl="0" algn="l">
              <a:spcBef>
                <a:spcPts val="0"/>
              </a:spcBef>
              <a:spcAft>
                <a:spcPts val="0"/>
              </a:spcAft>
              <a:buNone/>
            </a:pPr>
            <a:r>
              <a:rPr lang="en"/>
              <a:t>- Error metrics</a:t>
            </a:r>
            <a:endParaRPr/>
          </a:p>
          <a:p>
            <a:pPr indent="0" lvl="0" marL="0" rtl="0" algn="l">
              <a:spcBef>
                <a:spcPts val="0"/>
              </a:spcBef>
              <a:spcAft>
                <a:spcPts val="0"/>
              </a:spcAft>
              <a:buNone/>
            </a:pPr>
            <a:r>
              <a:rPr lang="en"/>
              <a:t>- Complexity / Speed</a:t>
            </a:r>
            <a:endParaRPr/>
          </a:p>
        </p:txBody>
      </p:sp>
      <p:sp>
        <p:nvSpPr>
          <p:cNvPr id="479" name="Google Shape;47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latin typeface="Proxima Nova"/>
                <a:ea typeface="Proxima Nova"/>
                <a:cs typeface="Proxima Nova"/>
                <a:sym typeface="Proxima Nova"/>
              </a:rPr>
              <a:t>‹#›</a:t>
            </a:fld>
            <a:endParaRPr>
              <a:latin typeface="Proxima Nova"/>
              <a:ea typeface="Proxima Nova"/>
              <a:cs typeface="Proxima Nova"/>
              <a:sym typeface="Proxima Nov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0"/>
          <p:cNvSpPr txBox="1"/>
          <p:nvPr>
            <p:ph type="title"/>
          </p:nvPr>
        </p:nvSpPr>
        <p:spPr>
          <a:xfrm>
            <a:off x="457200" y="114300"/>
            <a:ext cx="8229600" cy="6288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Evaluation</a:t>
            </a:r>
            <a:endParaRPr/>
          </a:p>
        </p:txBody>
      </p:sp>
      <p:graphicFrame>
        <p:nvGraphicFramePr>
          <p:cNvPr id="485" name="Google Shape;485;p60"/>
          <p:cNvGraphicFramePr/>
          <p:nvPr/>
        </p:nvGraphicFramePr>
        <p:xfrm>
          <a:off x="2705100" y="1371600"/>
          <a:ext cx="3000000" cy="3000000"/>
        </p:xfrm>
        <a:graphic>
          <a:graphicData uri="http://schemas.openxmlformats.org/drawingml/2006/table">
            <a:tbl>
              <a:tblPr>
                <a:noFill/>
                <a:tableStyleId>{31563634-6EFB-4475-A687-86A65893C6B7}</a:tableStyleId>
              </a:tblPr>
              <a:tblGrid>
                <a:gridCol w="565150"/>
                <a:gridCol w="577850"/>
                <a:gridCol w="552450"/>
                <a:gridCol w="565150"/>
                <a:gridCol w="565150"/>
                <a:gridCol w="565150"/>
              </a:tblGrid>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4</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4</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1910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2</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2</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2</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2</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r>
            </a:tbl>
          </a:graphicData>
        </a:graphic>
      </p:graphicFrame>
      <p:sp>
        <p:nvSpPr>
          <p:cNvPr id="486" name="Google Shape;486;p60"/>
          <p:cNvSpPr txBox="1"/>
          <p:nvPr/>
        </p:nvSpPr>
        <p:spPr>
          <a:xfrm>
            <a:off x="3540125" y="966788"/>
            <a:ext cx="110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008000"/>
                </a:solidFill>
                <a:latin typeface="Verdana"/>
                <a:ea typeface="Verdana"/>
                <a:cs typeface="Verdana"/>
                <a:sym typeface="Verdana"/>
              </a:rPr>
              <a:t>movies</a:t>
            </a:r>
            <a:endParaRPr b="1" sz="1800">
              <a:solidFill>
                <a:srgbClr val="008000"/>
              </a:solidFill>
              <a:latin typeface="Verdana"/>
              <a:ea typeface="Verdana"/>
              <a:cs typeface="Verdana"/>
              <a:sym typeface="Verdana"/>
            </a:endParaRPr>
          </a:p>
        </p:txBody>
      </p:sp>
      <p:sp>
        <p:nvSpPr>
          <p:cNvPr id="487" name="Google Shape;487;p60"/>
          <p:cNvSpPr txBox="1"/>
          <p:nvPr/>
        </p:nvSpPr>
        <p:spPr>
          <a:xfrm>
            <a:off x="1004888" y="2376488"/>
            <a:ext cx="1784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800">
                <a:solidFill>
                  <a:srgbClr val="008000"/>
                </a:solidFill>
                <a:latin typeface="Verdana"/>
                <a:ea typeface="Verdana"/>
                <a:cs typeface="Verdana"/>
                <a:sym typeface="Verdana"/>
              </a:rPr>
              <a:t>users</a:t>
            </a:r>
            <a:endParaRPr b="1" sz="1800">
              <a:solidFill>
                <a:srgbClr val="008000"/>
              </a:solidFill>
              <a:latin typeface="Verdana"/>
              <a:ea typeface="Verdana"/>
              <a:cs typeface="Verdana"/>
              <a:sym typeface="Verdana"/>
            </a:endParaRPr>
          </a:p>
        </p:txBody>
      </p:sp>
      <p:cxnSp>
        <p:nvCxnSpPr>
          <p:cNvPr id="488" name="Google Shape;488;p60"/>
          <p:cNvCxnSpPr/>
          <p:nvPr/>
        </p:nvCxnSpPr>
        <p:spPr>
          <a:xfrm>
            <a:off x="2413000" y="1400175"/>
            <a:ext cx="12600" cy="3000300"/>
          </a:xfrm>
          <a:prstGeom prst="straightConnector1">
            <a:avLst/>
          </a:prstGeom>
          <a:noFill/>
          <a:ln cap="flat" cmpd="sng" w="28575">
            <a:solidFill>
              <a:schemeClr val="dk1"/>
            </a:solidFill>
            <a:prstDash val="solid"/>
            <a:round/>
            <a:headEnd len="med" w="med" type="triangle"/>
            <a:tailEnd len="med" w="med" type="triangle"/>
          </a:ln>
        </p:spPr>
      </p:cxnSp>
      <p:cxnSp>
        <p:nvCxnSpPr>
          <p:cNvPr id="489" name="Google Shape;489;p60"/>
          <p:cNvCxnSpPr/>
          <p:nvPr/>
        </p:nvCxnSpPr>
        <p:spPr>
          <a:xfrm>
            <a:off x="2628900" y="1276350"/>
            <a:ext cx="3390900" cy="0"/>
          </a:xfrm>
          <a:prstGeom prst="straightConnector1">
            <a:avLst/>
          </a:prstGeom>
          <a:noFill/>
          <a:ln cap="flat" cmpd="sng" w="28575">
            <a:solidFill>
              <a:schemeClr val="dk1"/>
            </a:solidFill>
            <a:prstDash val="solid"/>
            <a:round/>
            <a:headEnd len="med" w="med" type="triangle"/>
            <a:tailEnd len="med" w="med" type="triangle"/>
          </a:ln>
        </p:spPr>
      </p:cxnSp>
      <p:sp>
        <p:nvSpPr>
          <p:cNvPr id="490" name="Google Shape;490;p60"/>
          <p:cNvSpPr txBox="1"/>
          <p:nvPr>
            <p:ph idx="12" type="sldNum"/>
          </p:nvPr>
        </p:nvSpPr>
        <p:spPr>
          <a:xfrm>
            <a:off x="8204396" y="4937760"/>
            <a:ext cx="733800" cy="2058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1"/>
          <p:cNvSpPr txBox="1"/>
          <p:nvPr>
            <p:ph type="title"/>
          </p:nvPr>
        </p:nvSpPr>
        <p:spPr>
          <a:xfrm>
            <a:off x="457200" y="114300"/>
            <a:ext cx="8229600" cy="6288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Evaluation</a:t>
            </a:r>
            <a:endParaRPr/>
          </a:p>
        </p:txBody>
      </p:sp>
      <p:graphicFrame>
        <p:nvGraphicFramePr>
          <p:cNvPr id="496" name="Google Shape;496;p61"/>
          <p:cNvGraphicFramePr/>
          <p:nvPr/>
        </p:nvGraphicFramePr>
        <p:xfrm>
          <a:off x="2667000" y="1371600"/>
          <a:ext cx="3000000" cy="3000000"/>
        </p:xfrm>
        <a:graphic>
          <a:graphicData uri="http://schemas.openxmlformats.org/drawingml/2006/table">
            <a:tbl>
              <a:tblPr>
                <a:noFill/>
                <a:tableStyleId>{31563634-6EFB-4475-A687-86A65893C6B7}</a:tableStyleId>
              </a:tblPr>
              <a:tblGrid>
                <a:gridCol w="565150"/>
                <a:gridCol w="565150"/>
                <a:gridCol w="565150"/>
                <a:gridCol w="565150"/>
                <a:gridCol w="565150"/>
                <a:gridCol w="565150"/>
              </a:tblGrid>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4</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4</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5</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1910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2</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2</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300050">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3</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 </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a:t>
                      </a:r>
                      <a:endParaRPr sz="1100">
                        <a:solidFill>
                          <a:schemeClr val="dk2"/>
                        </a:solidFill>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300050">
                <a:tc>
                  <a:txBody>
                    <a:bodyPr/>
                    <a:lstStyle/>
                    <a:p>
                      <a:pPr indent="0" lvl="0" marL="0" marR="0" rtl="0" algn="ctr">
                        <a:lnSpc>
                          <a:spcPct val="100000"/>
                        </a:lnSpc>
                        <a:spcBef>
                          <a:spcPts val="0"/>
                        </a:spcBef>
                        <a:spcAft>
                          <a:spcPts val="0"/>
                        </a:spcAft>
                        <a:buClr>
                          <a:schemeClr val="lt1"/>
                        </a:buClr>
                        <a:buSzPts val="1400"/>
                        <a:buFont typeface="Verdana"/>
                        <a:buNone/>
                      </a:pPr>
                      <a:r>
                        <a:rPr b="0" i="0" lang="en" sz="1400" u="none" cap="none" strike="noStrike">
                          <a:solidFill>
                            <a:schemeClr val="dk2"/>
                          </a:solidFill>
                          <a:latin typeface="Verdana"/>
                          <a:ea typeface="Verdana"/>
                          <a:cs typeface="Verdana"/>
                          <a:sym typeface="Verdana"/>
                        </a:rPr>
                        <a:t>1</a:t>
                      </a:r>
                      <a:endParaRPr sz="1100">
                        <a:solidFill>
                          <a:schemeClr val="dk2"/>
                        </a:solidFill>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Clr>
                          <a:schemeClr val="dk1"/>
                        </a:buClr>
                        <a:buSzPts val="1400"/>
                        <a:buFont typeface="Corbel"/>
                        <a:buNone/>
                      </a:pPr>
                      <a:r>
                        <a:t/>
                      </a:r>
                      <a:endParaRPr b="0" i="0" sz="1400" u="none" cap="none" strike="noStrike">
                        <a:solidFill>
                          <a:schemeClr val="dk2"/>
                        </a:solidFill>
                        <a:latin typeface="Verdana"/>
                        <a:ea typeface="Verdana"/>
                        <a:cs typeface="Verdana"/>
                        <a:sym typeface="Verdana"/>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FE2F3"/>
                    </a:solidFill>
                  </a:tcPr>
                </a:tc>
              </a:tr>
            </a:tbl>
          </a:graphicData>
        </a:graphic>
      </p:graphicFrame>
      <p:sp>
        <p:nvSpPr>
          <p:cNvPr id="497" name="Google Shape;497;p61"/>
          <p:cNvSpPr txBox="1"/>
          <p:nvPr/>
        </p:nvSpPr>
        <p:spPr>
          <a:xfrm>
            <a:off x="6483350" y="3094851"/>
            <a:ext cx="192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0000FF"/>
                </a:solidFill>
                <a:latin typeface="Verdana"/>
                <a:ea typeface="Verdana"/>
                <a:cs typeface="Verdana"/>
                <a:sym typeface="Verdana"/>
              </a:rPr>
              <a:t>Test Data Set</a:t>
            </a:r>
            <a:endParaRPr b="1" sz="1800">
              <a:solidFill>
                <a:srgbClr val="0000FF"/>
              </a:solidFill>
              <a:latin typeface="Verdana"/>
              <a:ea typeface="Verdana"/>
              <a:cs typeface="Verdana"/>
              <a:sym typeface="Verdana"/>
            </a:endParaRPr>
          </a:p>
        </p:txBody>
      </p:sp>
      <p:sp>
        <p:nvSpPr>
          <p:cNvPr id="498" name="Google Shape;498;p61"/>
          <p:cNvSpPr txBox="1"/>
          <p:nvPr/>
        </p:nvSpPr>
        <p:spPr>
          <a:xfrm>
            <a:off x="1004888" y="2376488"/>
            <a:ext cx="1784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800">
                <a:solidFill>
                  <a:srgbClr val="008000"/>
                </a:solidFill>
                <a:latin typeface="Verdana"/>
                <a:ea typeface="Verdana"/>
                <a:cs typeface="Verdana"/>
                <a:sym typeface="Verdana"/>
              </a:rPr>
              <a:t>users</a:t>
            </a:r>
            <a:endParaRPr b="1" sz="1800">
              <a:solidFill>
                <a:srgbClr val="008000"/>
              </a:solidFill>
              <a:latin typeface="Verdana"/>
              <a:ea typeface="Verdana"/>
              <a:cs typeface="Verdana"/>
              <a:sym typeface="Verdana"/>
            </a:endParaRPr>
          </a:p>
        </p:txBody>
      </p:sp>
      <p:cxnSp>
        <p:nvCxnSpPr>
          <p:cNvPr id="499" name="Google Shape;499;p61"/>
          <p:cNvCxnSpPr/>
          <p:nvPr/>
        </p:nvCxnSpPr>
        <p:spPr>
          <a:xfrm>
            <a:off x="2413000" y="1400175"/>
            <a:ext cx="12600" cy="3000300"/>
          </a:xfrm>
          <a:prstGeom prst="straightConnector1">
            <a:avLst/>
          </a:prstGeom>
          <a:noFill/>
          <a:ln cap="flat" cmpd="sng" w="28575">
            <a:solidFill>
              <a:schemeClr val="dk1"/>
            </a:solidFill>
            <a:prstDash val="solid"/>
            <a:round/>
            <a:headEnd len="med" w="med" type="triangle"/>
            <a:tailEnd len="med" w="med" type="triangle"/>
          </a:ln>
        </p:spPr>
      </p:cxnSp>
      <p:cxnSp>
        <p:nvCxnSpPr>
          <p:cNvPr id="500" name="Google Shape;500;p61"/>
          <p:cNvCxnSpPr/>
          <p:nvPr/>
        </p:nvCxnSpPr>
        <p:spPr>
          <a:xfrm>
            <a:off x="2628900" y="1276350"/>
            <a:ext cx="3390900" cy="0"/>
          </a:xfrm>
          <a:prstGeom prst="straightConnector1">
            <a:avLst/>
          </a:prstGeom>
          <a:noFill/>
          <a:ln cap="flat" cmpd="sng" w="28575">
            <a:solidFill>
              <a:schemeClr val="dk1"/>
            </a:solidFill>
            <a:prstDash val="solid"/>
            <a:round/>
            <a:headEnd len="med" w="med" type="triangle"/>
            <a:tailEnd len="med" w="med" type="triangle"/>
          </a:ln>
        </p:spPr>
      </p:cxnSp>
      <p:cxnSp>
        <p:nvCxnSpPr>
          <p:cNvPr id="501" name="Google Shape;501;p61"/>
          <p:cNvCxnSpPr/>
          <p:nvPr/>
        </p:nvCxnSpPr>
        <p:spPr>
          <a:xfrm flipH="1">
            <a:off x="6121300" y="3343275"/>
            <a:ext cx="901800" cy="219300"/>
          </a:xfrm>
          <a:prstGeom prst="straightConnector1">
            <a:avLst/>
          </a:prstGeom>
          <a:noFill/>
          <a:ln cap="flat" cmpd="sng" w="9525">
            <a:solidFill>
              <a:schemeClr val="dk1"/>
            </a:solidFill>
            <a:prstDash val="solid"/>
            <a:round/>
            <a:headEnd len="med" w="med" type="none"/>
            <a:tailEnd len="med" w="med" type="triangle"/>
          </a:ln>
        </p:spPr>
      </p:cxnSp>
      <p:sp>
        <p:nvSpPr>
          <p:cNvPr id="502" name="Google Shape;502;p61"/>
          <p:cNvSpPr txBox="1"/>
          <p:nvPr/>
        </p:nvSpPr>
        <p:spPr>
          <a:xfrm>
            <a:off x="3552825" y="966788"/>
            <a:ext cx="110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008000"/>
                </a:solidFill>
                <a:latin typeface="Verdana"/>
                <a:ea typeface="Verdana"/>
                <a:cs typeface="Verdana"/>
                <a:sym typeface="Verdana"/>
              </a:rPr>
              <a:t>movies</a:t>
            </a:r>
            <a:endParaRPr b="1" sz="1800">
              <a:solidFill>
                <a:srgbClr val="008000"/>
              </a:solidFill>
              <a:latin typeface="Verdana"/>
              <a:ea typeface="Verdana"/>
              <a:cs typeface="Verdana"/>
              <a:sym typeface="Verdana"/>
            </a:endParaRPr>
          </a:p>
        </p:txBody>
      </p:sp>
      <p:sp>
        <p:nvSpPr>
          <p:cNvPr id="503" name="Google Shape;503;p61"/>
          <p:cNvSpPr txBox="1"/>
          <p:nvPr>
            <p:ph idx="12" type="sldNum"/>
          </p:nvPr>
        </p:nvSpPr>
        <p:spPr>
          <a:xfrm>
            <a:off x="8204396" y="4937760"/>
            <a:ext cx="733800" cy="2058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2"/>
          <p:cNvSpPr txBox="1"/>
          <p:nvPr>
            <p:ph type="title"/>
          </p:nvPr>
        </p:nvSpPr>
        <p:spPr>
          <a:xfrm>
            <a:off x="311700" y="140225"/>
            <a:ext cx="8520600" cy="5727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Evaluating Predictions</a:t>
            </a:r>
            <a:endParaRPr/>
          </a:p>
        </p:txBody>
      </p:sp>
      <p:sp>
        <p:nvSpPr>
          <p:cNvPr id="510" name="Google Shape;510;p62"/>
          <p:cNvSpPr txBox="1"/>
          <p:nvPr>
            <p:ph idx="12" type="sldNum"/>
          </p:nvPr>
        </p:nvSpPr>
        <p:spPr>
          <a:xfrm>
            <a:off x="8472458" y="4663217"/>
            <a:ext cx="548700" cy="3936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11" name="Google Shape;511;p62"/>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Compare predictions with known ratings </a:t>
            </a:r>
            <a:endParaRPr/>
          </a:p>
          <a:p>
            <a:pPr indent="457200" lvl="0" marL="0" rtl="0" algn="l">
              <a:spcBef>
                <a:spcPts val="0"/>
              </a:spcBef>
              <a:spcAft>
                <a:spcPts val="0"/>
              </a:spcAft>
              <a:buNone/>
            </a:pPr>
            <a:r>
              <a:rPr lang="en"/>
              <a:t>Root-mean-square error (RMSE)</a:t>
            </a:r>
            <a:endParaRPr/>
          </a:p>
          <a:p>
            <a:pPr indent="457200" lvl="0" marL="0" rtl="0" algn="l">
              <a:spcBef>
                <a:spcPts val="0"/>
              </a:spcBef>
              <a:spcAft>
                <a:spcPts val="0"/>
              </a:spcAft>
              <a:buNone/>
            </a:pPr>
            <a:r>
              <a:rPr lang="en"/>
              <a:t>Precision at top 10:	% of relevant items in top 10</a:t>
            </a:r>
            <a:endParaRPr/>
          </a:p>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3"/>
          <p:cNvSpPr txBox="1"/>
          <p:nvPr>
            <p:ph type="title"/>
          </p:nvPr>
        </p:nvSpPr>
        <p:spPr>
          <a:xfrm>
            <a:off x="311700" y="140225"/>
            <a:ext cx="8520600" cy="5727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Problems with Error Measures</a:t>
            </a:r>
            <a:endParaRPr/>
          </a:p>
        </p:txBody>
      </p:sp>
      <p:sp>
        <p:nvSpPr>
          <p:cNvPr id="518" name="Google Shape;518;p63"/>
          <p:cNvSpPr txBox="1"/>
          <p:nvPr>
            <p:ph idx="12" type="sldNum"/>
          </p:nvPr>
        </p:nvSpPr>
        <p:spPr>
          <a:xfrm>
            <a:off x="8472458" y="4663217"/>
            <a:ext cx="548700" cy="3936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19" name="Google Shape;519;p63"/>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Narrow focus on accuracy sometimes misses the point</a:t>
            </a:r>
            <a:endParaRPr/>
          </a:p>
          <a:p>
            <a:pPr indent="-317500" lvl="1" marL="914400" rtl="0" algn="l">
              <a:spcBef>
                <a:spcPts val="0"/>
              </a:spcBef>
              <a:spcAft>
                <a:spcPts val="0"/>
              </a:spcAft>
              <a:buSzPts val="1400"/>
              <a:buChar char="○"/>
            </a:pPr>
            <a:r>
              <a:rPr lang="en"/>
              <a:t>Prediction Diversity</a:t>
            </a:r>
            <a:endParaRPr/>
          </a:p>
          <a:p>
            <a:pPr indent="-317500" lvl="1" marL="914400" rtl="0" algn="l">
              <a:spcBef>
                <a:spcPts val="0"/>
              </a:spcBef>
              <a:spcAft>
                <a:spcPts val="0"/>
              </a:spcAft>
              <a:buSzPts val="1400"/>
              <a:buChar char="○"/>
            </a:pPr>
            <a:r>
              <a:rPr lang="en"/>
              <a:t>Prediction Context</a:t>
            </a:r>
            <a:endParaRPr/>
          </a:p>
          <a:p>
            <a:pPr indent="-317500" lvl="1" marL="914400" rtl="0" algn="l">
              <a:spcBef>
                <a:spcPts val="0"/>
              </a:spcBef>
              <a:spcAft>
                <a:spcPts val="0"/>
              </a:spcAft>
              <a:buSzPts val="1400"/>
              <a:buChar char="○"/>
            </a:pPr>
            <a:r>
              <a:rPr lang="en"/>
              <a:t>Order of predictions</a:t>
            </a:r>
            <a:endParaRPr/>
          </a:p>
          <a:p>
            <a:pPr indent="-342900" lvl="0" marL="457200" rtl="0" algn="l">
              <a:spcBef>
                <a:spcPts val="0"/>
              </a:spcBef>
              <a:spcAft>
                <a:spcPts val="0"/>
              </a:spcAft>
              <a:buSzPts val="1800"/>
              <a:buChar char="●"/>
            </a:pPr>
            <a:r>
              <a:rPr lang="en"/>
              <a:t>In practice, we care only to predict high ratings:</a:t>
            </a:r>
            <a:endParaRPr/>
          </a:p>
          <a:p>
            <a:pPr indent="-317500" lvl="1" marL="914400" rtl="0" algn="l">
              <a:spcBef>
                <a:spcPts val="0"/>
              </a:spcBef>
              <a:spcAft>
                <a:spcPts val="0"/>
              </a:spcAft>
              <a:buSzPts val="1400"/>
              <a:buChar char="○"/>
            </a:pPr>
            <a:r>
              <a:rPr lang="en"/>
              <a:t>RMSE might penalize a method that does well for high ratings and badly for others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4"/>
          <p:cNvSpPr txBox="1"/>
          <p:nvPr>
            <p:ph type="title"/>
          </p:nvPr>
        </p:nvSpPr>
        <p:spPr>
          <a:xfrm>
            <a:off x="311700" y="140225"/>
            <a:ext cx="8520600" cy="5727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Collaborative Filtering: Complexity</a:t>
            </a:r>
            <a:endParaRPr/>
          </a:p>
        </p:txBody>
      </p:sp>
      <p:sp>
        <p:nvSpPr>
          <p:cNvPr id="526" name="Google Shape;526;p64"/>
          <p:cNvSpPr txBox="1"/>
          <p:nvPr>
            <p:ph idx="12" type="sldNum"/>
          </p:nvPr>
        </p:nvSpPr>
        <p:spPr>
          <a:xfrm>
            <a:off x="8472458" y="4663217"/>
            <a:ext cx="548700" cy="3936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27" name="Google Shape;527;p64"/>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Too expensive to do at runtime</a:t>
            </a:r>
            <a:endParaRPr/>
          </a:p>
          <a:p>
            <a:pPr indent="-342900" lvl="0" marL="457200" rtl="0" algn="l">
              <a:spcBef>
                <a:spcPts val="0"/>
              </a:spcBef>
              <a:spcAft>
                <a:spcPts val="0"/>
              </a:spcAft>
              <a:buSzPts val="1800"/>
              <a:buChar char="●"/>
            </a:pPr>
            <a:r>
              <a:rPr lang="en"/>
              <a:t>We already know how to do this!</a:t>
            </a:r>
            <a:endParaRPr/>
          </a:p>
          <a:p>
            <a:pPr indent="-317500" lvl="1" marL="914400" rtl="0" algn="l">
              <a:spcBef>
                <a:spcPts val="0"/>
              </a:spcBef>
              <a:spcAft>
                <a:spcPts val="0"/>
              </a:spcAft>
              <a:buSzPts val="1400"/>
              <a:buChar char="○"/>
            </a:pPr>
            <a:r>
              <a:rPr lang="en"/>
              <a:t>Near-neighbor search in high dimensions (LSH) </a:t>
            </a:r>
            <a:endParaRPr/>
          </a:p>
          <a:p>
            <a:pPr indent="-317500" lvl="1" marL="914400" rtl="0" algn="l">
              <a:spcBef>
                <a:spcPts val="0"/>
              </a:spcBef>
              <a:spcAft>
                <a:spcPts val="0"/>
              </a:spcAft>
              <a:buSzPts val="1400"/>
              <a:buChar char="○"/>
            </a:pPr>
            <a:r>
              <a:rPr lang="en"/>
              <a:t>Clustering</a:t>
            </a:r>
            <a:endParaRPr/>
          </a:p>
          <a:p>
            <a:pPr indent="-317500" lvl="1" marL="914400" rtl="0" algn="l">
              <a:spcBef>
                <a:spcPts val="0"/>
              </a:spcBef>
              <a:spcAft>
                <a:spcPts val="0"/>
              </a:spcAft>
              <a:buSzPts val="1400"/>
              <a:buChar char="○"/>
            </a:pPr>
            <a:r>
              <a:rPr lang="en"/>
              <a:t>Dimensionality reduction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5"/>
          <p:cNvSpPr txBox="1"/>
          <p:nvPr>
            <p:ph type="title"/>
          </p:nvPr>
        </p:nvSpPr>
        <p:spPr>
          <a:xfrm>
            <a:off x="311700" y="140225"/>
            <a:ext cx="8520600" cy="572700"/>
          </a:xfrm>
          <a:prstGeom prst="rect">
            <a:avLst/>
          </a:prstGeom>
          <a:noFill/>
          <a:ln>
            <a:noFill/>
          </a:ln>
        </p:spPr>
        <p:txBody>
          <a:bodyPr anchorCtr="0" anchor="ctr" bIns="45700" lIns="91425" spcFirstLastPara="1" rIns="45700" wrap="square" tIns="45700">
            <a:normAutofit/>
          </a:bodyPr>
          <a:lstStyle/>
          <a:p>
            <a:pPr indent="0" lvl="0" marL="0" rtl="0" algn="l">
              <a:spcBef>
                <a:spcPts val="0"/>
              </a:spcBef>
              <a:spcAft>
                <a:spcPts val="0"/>
              </a:spcAft>
              <a:buClr>
                <a:srgbClr val="FFC700"/>
              </a:buClr>
              <a:buSzPts val="4500"/>
              <a:buFont typeface="Corbel"/>
              <a:buNone/>
            </a:pPr>
            <a:r>
              <a:rPr lang="en"/>
              <a:t>Tip: Add Data</a:t>
            </a:r>
            <a:endParaRPr/>
          </a:p>
        </p:txBody>
      </p:sp>
      <p:sp>
        <p:nvSpPr>
          <p:cNvPr id="534" name="Google Shape;534;p65"/>
          <p:cNvSpPr txBox="1"/>
          <p:nvPr>
            <p:ph idx="12" type="sldNum"/>
          </p:nvPr>
        </p:nvSpPr>
        <p:spPr>
          <a:xfrm>
            <a:off x="8472458" y="4663217"/>
            <a:ext cx="548700" cy="393600"/>
          </a:xfrm>
          <a:prstGeom prst="rect">
            <a:avLst/>
          </a:prstGeom>
          <a:noFill/>
          <a:ln>
            <a:noFill/>
          </a:ln>
        </p:spPr>
        <p:txBody>
          <a:bodyPr anchorCtr="0" anchor="b" bIns="0" lIns="91425" spcFirstLastPara="1" rIns="91425" wrap="square" tIns="45700">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35" name="Google Shape;535;p65"/>
          <p:cNvSpPr txBox="1"/>
          <p:nvPr>
            <p:ph idx="1" type="body"/>
          </p:nvPr>
        </p:nvSpPr>
        <p:spPr>
          <a:xfrm>
            <a:off x="311700" y="771475"/>
            <a:ext cx="8520600" cy="41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Leverage all the data</a:t>
            </a:r>
            <a:endParaRPr/>
          </a:p>
          <a:p>
            <a:pPr indent="-317500" lvl="1" marL="914400" rtl="0" algn="l">
              <a:spcBef>
                <a:spcPts val="0"/>
              </a:spcBef>
              <a:spcAft>
                <a:spcPts val="0"/>
              </a:spcAft>
              <a:buSzPts val="1400"/>
              <a:buChar char="○"/>
            </a:pPr>
            <a:r>
              <a:rPr lang="en"/>
              <a:t>Don’t try to reduce data size in an effort to make fancy algorithms work</a:t>
            </a:r>
            <a:endParaRPr/>
          </a:p>
          <a:p>
            <a:pPr indent="-317500" lvl="1" marL="914400" rtl="0" algn="l">
              <a:spcBef>
                <a:spcPts val="0"/>
              </a:spcBef>
              <a:spcAft>
                <a:spcPts val="0"/>
              </a:spcAft>
              <a:buSzPts val="1400"/>
              <a:buChar char="○"/>
            </a:pPr>
            <a:r>
              <a:rPr lang="en"/>
              <a:t>Simple methods on large data do best</a:t>
            </a:r>
            <a:endParaRPr/>
          </a:p>
          <a:p>
            <a:pPr indent="-342900" lvl="0" marL="457200" rtl="0" algn="l">
              <a:spcBef>
                <a:spcPts val="0"/>
              </a:spcBef>
              <a:spcAft>
                <a:spcPts val="0"/>
              </a:spcAft>
              <a:buSzPts val="1800"/>
              <a:buChar char="●"/>
            </a:pPr>
            <a:r>
              <a:rPr lang="en"/>
              <a:t>Add more data</a:t>
            </a:r>
            <a:endParaRPr/>
          </a:p>
          <a:p>
            <a:pPr indent="-317500" lvl="1" marL="914400" rtl="0" algn="l">
              <a:spcBef>
                <a:spcPts val="0"/>
              </a:spcBef>
              <a:spcAft>
                <a:spcPts val="0"/>
              </a:spcAft>
              <a:buSzPts val="1400"/>
              <a:buChar char="○"/>
            </a:pPr>
            <a:r>
              <a:rPr lang="en"/>
              <a:t>e.g., add IMDB data on genres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